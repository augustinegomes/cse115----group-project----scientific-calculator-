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nsolas Bold" charset="1" panose="020B0709020204030204"/>
      <p:regular r:id="rId21"/>
    </p:embeddedFont>
    <p:embeddedFont>
      <p:font typeface="Calibri (MS)" charset="1" panose="020F050202020403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26"/>
    </p:embeddedFont>
    <p:embeddedFont>
      <p:font typeface="Consolas Italics" charset="1" panose="020B0609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" y="-3810"/>
            <a:ext cx="18295620" cy="7620"/>
            <a:chOff x="0" y="0"/>
            <a:chExt cx="24394160" cy="1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810" y="1642110"/>
            <a:ext cx="18295620" cy="7620"/>
            <a:chOff x="0" y="0"/>
            <a:chExt cx="24394160" cy="1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810" y="3288030"/>
            <a:ext cx="18295620" cy="7620"/>
            <a:chOff x="0" y="0"/>
            <a:chExt cx="24394160" cy="1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810" y="4933950"/>
            <a:ext cx="18295620" cy="7620"/>
            <a:chOff x="0" y="0"/>
            <a:chExt cx="24394160" cy="1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810" y="6579870"/>
            <a:ext cx="18295620" cy="7620"/>
            <a:chOff x="0" y="0"/>
            <a:chExt cx="24394160" cy="1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810" y="8225790"/>
            <a:ext cx="18295620" cy="7620"/>
            <a:chOff x="0" y="0"/>
            <a:chExt cx="24394160" cy="1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810" y="-3810"/>
            <a:ext cx="7620" cy="10294620"/>
            <a:chOff x="0" y="0"/>
            <a:chExt cx="10160" cy="13726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24990" y="-3810"/>
            <a:ext cx="7620" cy="10294620"/>
            <a:chOff x="0" y="0"/>
            <a:chExt cx="10160" cy="13726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53790" y="-3810"/>
            <a:ext cx="7620" cy="10294620"/>
            <a:chOff x="0" y="0"/>
            <a:chExt cx="10160" cy="13726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82590" y="-3810"/>
            <a:ext cx="7620" cy="10294620"/>
            <a:chOff x="0" y="0"/>
            <a:chExt cx="10160" cy="13726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1390" y="-3810"/>
            <a:ext cx="7620" cy="10294620"/>
            <a:chOff x="0" y="0"/>
            <a:chExt cx="10160" cy="13726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0190" y="-3810"/>
            <a:ext cx="7620" cy="10294620"/>
            <a:chOff x="0" y="0"/>
            <a:chExt cx="10160" cy="13726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68990" y="-3810"/>
            <a:ext cx="7620" cy="10294620"/>
            <a:chOff x="0" y="0"/>
            <a:chExt cx="10160" cy="13726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797790" y="-3810"/>
            <a:ext cx="7620" cy="10294620"/>
            <a:chOff x="0" y="0"/>
            <a:chExt cx="10160" cy="13726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626590" y="-3810"/>
            <a:ext cx="7620" cy="10294620"/>
            <a:chOff x="0" y="0"/>
            <a:chExt cx="10160" cy="13726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455390" y="-3810"/>
            <a:ext cx="7620" cy="10294620"/>
            <a:chOff x="0" y="0"/>
            <a:chExt cx="10160" cy="13726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8284190" y="-3810"/>
            <a:ext cx="7620" cy="10294620"/>
            <a:chOff x="0" y="0"/>
            <a:chExt cx="10160" cy="13726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61110" y="2724150"/>
            <a:ext cx="15765780" cy="4975860"/>
            <a:chOff x="0" y="0"/>
            <a:chExt cx="21021040" cy="663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20970239" cy="6583680"/>
            </a:xfrm>
            <a:custGeom>
              <a:avLst/>
              <a:gdLst/>
              <a:ahLst/>
              <a:cxnLst/>
              <a:rect r="r" b="b" t="t" l="l"/>
              <a:pathLst>
                <a:path h="65836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6583680"/>
                  </a:lnTo>
                  <a:lnTo>
                    <a:pt x="0" y="65836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021039" cy="6634480"/>
            </a:xfrm>
            <a:custGeom>
              <a:avLst/>
              <a:gdLst/>
              <a:ahLst/>
              <a:cxnLst/>
              <a:rect r="r" b="b" t="t" l="l"/>
              <a:pathLst>
                <a:path h="6634480" w="21021039">
                  <a:moveTo>
                    <a:pt x="25400" y="0"/>
                  </a:moveTo>
                  <a:lnTo>
                    <a:pt x="20995639" y="0"/>
                  </a:lnTo>
                  <a:cubicBezTo>
                    <a:pt x="21009609" y="0"/>
                    <a:pt x="21021039" y="11430"/>
                    <a:pt x="21021039" y="25400"/>
                  </a:cubicBezTo>
                  <a:lnTo>
                    <a:pt x="21021039" y="6609080"/>
                  </a:lnTo>
                  <a:cubicBezTo>
                    <a:pt x="21021039" y="6623050"/>
                    <a:pt x="21009609" y="6634480"/>
                    <a:pt x="20995639" y="6634480"/>
                  </a:cubicBezTo>
                  <a:lnTo>
                    <a:pt x="25400" y="6634480"/>
                  </a:lnTo>
                  <a:cubicBezTo>
                    <a:pt x="11430" y="6634480"/>
                    <a:pt x="0" y="6623050"/>
                    <a:pt x="0" y="660908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609080"/>
                  </a:lnTo>
                  <a:lnTo>
                    <a:pt x="25400" y="6609080"/>
                  </a:lnTo>
                  <a:lnTo>
                    <a:pt x="25400" y="6583680"/>
                  </a:lnTo>
                  <a:lnTo>
                    <a:pt x="20995639" y="6583680"/>
                  </a:lnTo>
                  <a:lnTo>
                    <a:pt x="20995639" y="6609080"/>
                  </a:lnTo>
                  <a:lnTo>
                    <a:pt x="20970239" y="6609080"/>
                  </a:lnTo>
                  <a:lnTo>
                    <a:pt x="20970239" y="25400"/>
                  </a:lnTo>
                  <a:lnTo>
                    <a:pt x="20995639" y="25400"/>
                  </a:lnTo>
                  <a:lnTo>
                    <a:pt x="20995639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67463" y="2730503"/>
            <a:ext cx="15753083" cy="171707"/>
            <a:chOff x="0" y="0"/>
            <a:chExt cx="21004111" cy="22894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0970239" cy="195072"/>
            </a:xfrm>
            <a:custGeom>
              <a:avLst/>
              <a:gdLst/>
              <a:ahLst/>
              <a:cxnLst/>
              <a:rect r="r" b="b" t="t" l="l"/>
              <a:pathLst>
                <a:path h="195072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0D4A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04022" cy="228856"/>
            </a:xfrm>
            <a:custGeom>
              <a:avLst/>
              <a:gdLst/>
              <a:ahLst/>
              <a:cxnLst/>
              <a:rect r="r" b="b" t="t" l="l"/>
              <a:pathLst>
                <a:path h="228856" w="21004022">
                  <a:moveTo>
                    <a:pt x="16891" y="0"/>
                  </a:moveTo>
                  <a:lnTo>
                    <a:pt x="20987130" y="0"/>
                  </a:lnTo>
                  <a:cubicBezTo>
                    <a:pt x="20996529" y="0"/>
                    <a:pt x="21004022" y="7620"/>
                    <a:pt x="21004022" y="16891"/>
                  </a:cubicBezTo>
                  <a:lnTo>
                    <a:pt x="21004022" y="211963"/>
                  </a:lnTo>
                  <a:cubicBezTo>
                    <a:pt x="21004022" y="221361"/>
                    <a:pt x="20996402" y="228854"/>
                    <a:pt x="2098713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0987130" y="195072"/>
                  </a:lnTo>
                  <a:lnTo>
                    <a:pt x="20987130" y="211963"/>
                  </a:lnTo>
                  <a:lnTo>
                    <a:pt x="20970239" y="211963"/>
                  </a:lnTo>
                  <a:lnTo>
                    <a:pt x="20970239" y="16891"/>
                  </a:lnTo>
                  <a:lnTo>
                    <a:pt x="20987130" y="16891"/>
                  </a:lnTo>
                  <a:lnTo>
                    <a:pt x="209871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832330" y="2747010"/>
            <a:ext cx="2194560" cy="1097280"/>
            <a:chOff x="0" y="0"/>
            <a:chExt cx="292608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292608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⟨ / ⟩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9210" y="3590925"/>
            <a:ext cx="15727680" cy="1737360"/>
            <a:chOff x="0" y="0"/>
            <a:chExt cx="20970240" cy="2316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970239" cy="2316480"/>
            </a:xfrm>
            <a:custGeom>
              <a:avLst/>
              <a:gdLst/>
              <a:ahLst/>
              <a:cxnLst/>
              <a:rect r="r" b="b" t="t" l="l"/>
              <a:pathLst>
                <a:path h="23164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90" r="0" b="-1263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23825"/>
              <a:ext cx="20970240" cy="2440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b="true" sz="6800" spc="800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SCIENTIFIC CALCULATOR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417176" y="5568058"/>
            <a:ext cx="7453648" cy="822960"/>
            <a:chOff x="0" y="0"/>
            <a:chExt cx="9938197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38197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38197">
                  <a:moveTo>
                    <a:pt x="0" y="0"/>
                  </a:moveTo>
                  <a:lnTo>
                    <a:pt x="9938197" y="0"/>
                  </a:lnTo>
                  <a:lnTo>
                    <a:pt x="9938197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D4AA">
                <a:alpha val="1961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184882" y="5623560"/>
            <a:ext cx="7910616" cy="711955"/>
            <a:chOff x="0" y="0"/>
            <a:chExt cx="1219200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192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66675"/>
              <a:ext cx="121920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0D4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115  |  Section 05  |  Group 13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4812" y="7963339"/>
            <a:ext cx="3258826" cy="675686"/>
            <a:chOff x="0" y="0"/>
            <a:chExt cx="3691471" cy="7653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00D4AA">
                <a:alpha val="5882"/>
              </a:srgbClr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91382" cy="765304"/>
            </a:xfrm>
            <a:custGeom>
              <a:avLst/>
              <a:gdLst/>
              <a:ahLst/>
              <a:cxnLst/>
              <a:rect r="r" b="b" t="t" l="l"/>
              <a:pathLst>
                <a:path h="76530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748411"/>
                  </a:lnTo>
                  <a:cubicBezTo>
                    <a:pt x="3691382" y="757809"/>
                    <a:pt x="3683762" y="765302"/>
                    <a:pt x="3674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674491" y="731520"/>
                  </a:lnTo>
                  <a:lnTo>
                    <a:pt x="3674491" y="748411"/>
                  </a:lnTo>
                  <a:lnTo>
                    <a:pt x="3657600" y="7484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99587" y="8022614"/>
            <a:ext cx="3001013" cy="557137"/>
            <a:chOff x="0" y="0"/>
            <a:chExt cx="4001351" cy="74284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01351" cy="742849"/>
            </a:xfrm>
            <a:custGeom>
              <a:avLst/>
              <a:gdLst/>
              <a:ahLst/>
              <a:cxnLst/>
              <a:rect r="r" b="b" t="t" l="l"/>
              <a:pathLst>
                <a:path h="742849" w="4001351">
                  <a:moveTo>
                    <a:pt x="0" y="0"/>
                  </a:moveTo>
                  <a:lnTo>
                    <a:pt x="4001351" y="0"/>
                  </a:lnTo>
                  <a:lnTo>
                    <a:pt x="4001351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8590" b="-4517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001351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K.M  Mohib Nawaz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476875" y="7996150"/>
            <a:ext cx="3258826" cy="642875"/>
            <a:chOff x="0" y="0"/>
            <a:chExt cx="3691471" cy="7282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071"/>
              <a:ext cx="3657600" cy="695997"/>
            </a:xfrm>
            <a:custGeom>
              <a:avLst/>
              <a:gdLst/>
              <a:ahLst/>
              <a:cxnLst/>
              <a:rect r="r" b="b" t="t" l="l"/>
              <a:pathLst>
                <a:path h="695997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95997"/>
                  </a:lnTo>
                  <a:lnTo>
                    <a:pt x="0" y="695997"/>
                  </a:lnTo>
                  <a:close/>
                </a:path>
              </a:pathLst>
            </a:custGeom>
            <a:solidFill>
              <a:srgbClr val="4F9CF9">
                <a:alpha val="5882"/>
              </a:srgbClr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91382" cy="728140"/>
            </a:xfrm>
            <a:custGeom>
              <a:avLst/>
              <a:gdLst/>
              <a:ahLst/>
              <a:cxnLst/>
              <a:rect r="r" b="b" t="t" l="l"/>
              <a:pathLst>
                <a:path h="728140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250"/>
                    <a:pt x="3691382" y="16071"/>
                  </a:cubicBezTo>
                  <a:lnTo>
                    <a:pt x="3691382" y="712068"/>
                  </a:lnTo>
                  <a:cubicBezTo>
                    <a:pt x="3691382" y="721010"/>
                    <a:pt x="3683762" y="728139"/>
                    <a:pt x="3674491" y="728139"/>
                  </a:cubicBezTo>
                  <a:lnTo>
                    <a:pt x="16891" y="728139"/>
                  </a:lnTo>
                  <a:cubicBezTo>
                    <a:pt x="7620" y="728262"/>
                    <a:pt x="0" y="721010"/>
                    <a:pt x="0" y="712068"/>
                  </a:cubicBezTo>
                  <a:lnTo>
                    <a:pt x="0" y="16071"/>
                  </a:lnTo>
                  <a:cubicBezTo>
                    <a:pt x="0" y="7250"/>
                    <a:pt x="7620" y="0"/>
                    <a:pt x="16891" y="0"/>
                  </a:cubicBezTo>
                  <a:moveTo>
                    <a:pt x="16891" y="32262"/>
                  </a:moveTo>
                  <a:lnTo>
                    <a:pt x="16891" y="16071"/>
                  </a:lnTo>
                  <a:lnTo>
                    <a:pt x="33909" y="16071"/>
                  </a:lnTo>
                  <a:lnTo>
                    <a:pt x="33909" y="712068"/>
                  </a:lnTo>
                  <a:lnTo>
                    <a:pt x="16891" y="712068"/>
                  </a:lnTo>
                  <a:lnTo>
                    <a:pt x="16891" y="695997"/>
                  </a:lnTo>
                  <a:lnTo>
                    <a:pt x="3674491" y="695997"/>
                  </a:lnTo>
                  <a:lnTo>
                    <a:pt x="3674491" y="712068"/>
                  </a:lnTo>
                  <a:lnTo>
                    <a:pt x="3657600" y="712068"/>
                  </a:lnTo>
                  <a:lnTo>
                    <a:pt x="3657600" y="16071"/>
                  </a:lnTo>
                  <a:lnTo>
                    <a:pt x="3674491" y="16071"/>
                  </a:lnTo>
                  <a:lnTo>
                    <a:pt x="3674491" y="32262"/>
                  </a:lnTo>
                  <a:lnTo>
                    <a:pt x="16891" y="32262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734688" y="8005675"/>
            <a:ext cx="2743200" cy="557137"/>
            <a:chOff x="0" y="0"/>
            <a:chExt cx="3657600" cy="74284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742849"/>
            </a:xfrm>
            <a:custGeom>
              <a:avLst/>
              <a:gdLst/>
              <a:ahLst/>
              <a:cxnLst/>
              <a:rect r="r" b="b" t="t" l="l"/>
              <a:pathLst>
                <a:path h="74284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3657600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Augustine Gomes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90383" y="8005675"/>
            <a:ext cx="3220726" cy="667787"/>
            <a:chOff x="0" y="0"/>
            <a:chExt cx="3691471" cy="7653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A371F7">
                <a:alpha val="5882"/>
              </a:srgbClr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91382" cy="765304"/>
            </a:xfrm>
            <a:custGeom>
              <a:avLst/>
              <a:gdLst/>
              <a:ahLst/>
              <a:cxnLst/>
              <a:rect r="r" b="b" t="t" l="l"/>
              <a:pathLst>
                <a:path h="76530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748411"/>
                  </a:lnTo>
                  <a:cubicBezTo>
                    <a:pt x="3691382" y="757809"/>
                    <a:pt x="3683762" y="765302"/>
                    <a:pt x="3674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674491" y="731520"/>
                  </a:lnTo>
                  <a:lnTo>
                    <a:pt x="3674491" y="748411"/>
                  </a:lnTo>
                  <a:lnTo>
                    <a:pt x="3657600" y="7484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629146" y="8065249"/>
            <a:ext cx="2743200" cy="557137"/>
            <a:chOff x="0" y="0"/>
            <a:chExt cx="3657600" cy="74284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742849"/>
            </a:xfrm>
            <a:custGeom>
              <a:avLst/>
              <a:gdLst/>
              <a:ahLst/>
              <a:cxnLst/>
              <a:rect r="r" b="b" t="t" l="l"/>
              <a:pathLst>
                <a:path h="74284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3657600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A37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Usayed Bin Gias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453110" y="8001858"/>
            <a:ext cx="3239138" cy="671604"/>
            <a:chOff x="0" y="0"/>
            <a:chExt cx="369147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F78166">
                <a:alpha val="5882"/>
              </a:srgbClr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91382" cy="765304"/>
            </a:xfrm>
            <a:custGeom>
              <a:avLst/>
              <a:gdLst/>
              <a:ahLst/>
              <a:cxnLst/>
              <a:rect r="r" b="b" t="t" l="l"/>
              <a:pathLst>
                <a:path h="765304" w="3691382">
                  <a:moveTo>
                    <a:pt x="16891" y="0"/>
                  </a:moveTo>
                  <a:lnTo>
                    <a:pt x="3674491" y="0"/>
                  </a:lnTo>
                  <a:cubicBezTo>
                    <a:pt x="3683889" y="0"/>
                    <a:pt x="3691382" y="7620"/>
                    <a:pt x="3691382" y="16891"/>
                  </a:cubicBezTo>
                  <a:lnTo>
                    <a:pt x="3691382" y="748411"/>
                  </a:lnTo>
                  <a:cubicBezTo>
                    <a:pt x="3691382" y="757809"/>
                    <a:pt x="3683762" y="765302"/>
                    <a:pt x="36744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674491" y="731520"/>
                  </a:lnTo>
                  <a:lnTo>
                    <a:pt x="3674491" y="748411"/>
                  </a:lnTo>
                  <a:lnTo>
                    <a:pt x="3657600" y="748411"/>
                  </a:lnTo>
                  <a:lnTo>
                    <a:pt x="3657600" y="16891"/>
                  </a:lnTo>
                  <a:lnTo>
                    <a:pt x="3674491" y="16891"/>
                  </a:lnTo>
                  <a:lnTo>
                    <a:pt x="36744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700760" y="8059091"/>
            <a:ext cx="2743200" cy="557137"/>
            <a:chOff x="0" y="0"/>
            <a:chExt cx="3657600" cy="74284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657600" cy="742849"/>
            </a:xfrm>
            <a:custGeom>
              <a:avLst/>
              <a:gdLst/>
              <a:ahLst/>
              <a:cxnLst/>
              <a:rect r="r" b="b" t="t" l="l"/>
              <a:pathLst>
                <a:path h="74284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42849"/>
                  </a:lnTo>
                  <a:lnTo>
                    <a:pt x="0" y="7428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01" r="0" b="-4517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3657600" cy="809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78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Abrar Shahriyar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801600" y="9418320"/>
            <a:ext cx="5120640" cy="548640"/>
            <a:chOff x="0" y="0"/>
            <a:chExt cx="6827520" cy="7315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2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6827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North South University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880227" y="84022"/>
            <a:ext cx="2754513" cy="3506903"/>
          </a:xfrm>
          <a:custGeom>
            <a:avLst/>
            <a:gdLst/>
            <a:ahLst/>
            <a:cxnLst/>
            <a:rect r="r" b="b" t="t" l="l"/>
            <a:pathLst>
              <a:path h="3506903" w="2754513">
                <a:moveTo>
                  <a:pt x="0" y="0"/>
                </a:moveTo>
                <a:lnTo>
                  <a:pt x="2754513" y="0"/>
                </a:lnTo>
                <a:lnTo>
                  <a:pt x="2754513" y="3506903"/>
                </a:lnTo>
                <a:lnTo>
                  <a:pt x="0" y="3506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562556" y="813435"/>
            <a:ext cx="146605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161B22"/>
                </a:solidFill>
                <a:latin typeface="Consolas Bold"/>
                <a:ea typeface="Consolas Bold"/>
                <a:cs typeface="Consolas Bold"/>
                <a:sym typeface="Consolas Bold"/>
              </a:rPr>
              <a:t>Welcome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Introduction &amp;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09344"/>
            <a:ext cx="8229600" cy="73152"/>
            <a:chOff x="0" y="0"/>
            <a:chExt cx="10972800" cy="97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97536"/>
            </a:xfrm>
            <a:custGeom>
              <a:avLst/>
              <a:gdLst/>
              <a:ahLst/>
              <a:cxnLst/>
              <a:rect r="r" b="b" t="t" l="l"/>
              <a:pathLst>
                <a:path h="975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5167" y="1913887"/>
            <a:ext cx="8059417" cy="7693657"/>
            <a:chOff x="0" y="0"/>
            <a:chExt cx="10745889" cy="10258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8509" y="8509"/>
              <a:ext cx="1072896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5978" cy="10258299"/>
            </a:xfrm>
            <a:custGeom>
              <a:avLst/>
              <a:gdLst/>
              <a:ahLst/>
              <a:cxnLst/>
              <a:rect r="r" b="b" t="t" l="l"/>
              <a:pathLst>
                <a:path h="10258299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0249789"/>
                  </a:lnTo>
                  <a:cubicBezTo>
                    <a:pt x="10745978" y="10254488"/>
                    <a:pt x="10742168" y="10258299"/>
                    <a:pt x="10737469" y="10258299"/>
                  </a:cubicBezTo>
                  <a:lnTo>
                    <a:pt x="8509" y="10258299"/>
                  </a:lnTo>
                  <a:cubicBezTo>
                    <a:pt x="3810" y="10258299"/>
                    <a:pt x="0" y="10254488"/>
                    <a:pt x="0" y="10249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249789"/>
                  </a:lnTo>
                  <a:lnTo>
                    <a:pt x="8509" y="10249789"/>
                  </a:lnTo>
                  <a:lnTo>
                    <a:pt x="8509" y="10241280"/>
                  </a:lnTo>
                  <a:lnTo>
                    <a:pt x="10737469" y="10241280"/>
                  </a:lnTo>
                  <a:lnTo>
                    <a:pt x="10737469" y="10249789"/>
                  </a:lnTo>
                  <a:lnTo>
                    <a:pt x="10728960" y="1024978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920240"/>
            <a:ext cx="109728" cy="7680960"/>
            <a:chOff x="0" y="0"/>
            <a:chExt cx="146304" cy="10241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103120"/>
            <a:ext cx="7315200" cy="686003"/>
            <a:chOff x="0" y="0"/>
            <a:chExt cx="9753600" cy="9146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14671"/>
            </a:xfrm>
            <a:custGeom>
              <a:avLst/>
              <a:gdLst/>
              <a:ahLst/>
              <a:cxnLst/>
              <a:rect r="r" b="b" t="t" l="l"/>
              <a:pathLst>
                <a:path h="91467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14671"/>
                  </a:lnTo>
                  <a:lnTo>
                    <a:pt x="0" y="914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125" r="0" b="-15443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753600" cy="971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INTRODUCTION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834640"/>
            <a:ext cx="7576963" cy="6400800"/>
            <a:chOff x="0" y="0"/>
            <a:chExt cx="10102617" cy="853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02617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102617">
                  <a:moveTo>
                    <a:pt x="0" y="0"/>
                  </a:moveTo>
                  <a:lnTo>
                    <a:pt x="10102617" y="0"/>
                  </a:lnTo>
                  <a:lnTo>
                    <a:pt x="10102617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114" t="0" r="-5665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00025"/>
              <a:ext cx="10102617" cy="873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Console-based, menu-driven application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Covers elementary to advanced mathematical operations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Developed collaboratively by 4 team members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member owns a distinct functional segment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on modular programming principles in C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20527" y="1913887"/>
            <a:ext cx="8059417" cy="7693657"/>
            <a:chOff x="0" y="0"/>
            <a:chExt cx="10745889" cy="102582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8509" y="8509"/>
              <a:ext cx="1072896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45978" cy="10258299"/>
            </a:xfrm>
            <a:custGeom>
              <a:avLst/>
              <a:gdLst/>
              <a:ahLst/>
              <a:cxnLst/>
              <a:rect r="r" b="b" t="t" l="l"/>
              <a:pathLst>
                <a:path h="10258299" w="1074597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10249789"/>
                  </a:lnTo>
                  <a:cubicBezTo>
                    <a:pt x="10745978" y="10254488"/>
                    <a:pt x="10742168" y="10258299"/>
                    <a:pt x="10737469" y="10258299"/>
                  </a:cubicBezTo>
                  <a:lnTo>
                    <a:pt x="8509" y="10258299"/>
                  </a:lnTo>
                  <a:cubicBezTo>
                    <a:pt x="3810" y="10258299"/>
                    <a:pt x="0" y="10254488"/>
                    <a:pt x="0" y="10249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0249789"/>
                  </a:lnTo>
                  <a:lnTo>
                    <a:pt x="8509" y="10249789"/>
                  </a:lnTo>
                  <a:lnTo>
                    <a:pt x="8509" y="10241280"/>
                  </a:lnTo>
                  <a:lnTo>
                    <a:pt x="10737469" y="10241280"/>
                  </a:lnTo>
                  <a:lnTo>
                    <a:pt x="10737469" y="10249789"/>
                  </a:lnTo>
                  <a:lnTo>
                    <a:pt x="10728960" y="1024978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0" y="1920240"/>
            <a:ext cx="109728" cy="7680960"/>
            <a:chOff x="0" y="0"/>
            <a:chExt cx="146304" cy="10241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0241280"/>
                  </a:lnTo>
                  <a:lnTo>
                    <a:pt x="0" y="1024128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92640" y="2103120"/>
            <a:ext cx="7315200" cy="686003"/>
            <a:chOff x="0" y="0"/>
            <a:chExt cx="9753600" cy="9146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914671"/>
            </a:xfrm>
            <a:custGeom>
              <a:avLst/>
              <a:gdLst/>
              <a:ahLst/>
              <a:cxnLst/>
              <a:rect r="r" b="b" t="t" l="l"/>
              <a:pathLst>
                <a:path h="91467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14671"/>
                  </a:lnTo>
                  <a:lnTo>
                    <a:pt x="0" y="914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125" r="0" b="-1544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9753600" cy="971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OBJECTIVES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0" y="2834640"/>
            <a:ext cx="7566660" cy="6400800"/>
            <a:chOff x="0" y="0"/>
            <a:chExt cx="10088880" cy="853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8888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088880">
                  <a:moveTo>
                    <a:pt x="0" y="0"/>
                  </a:moveTo>
                  <a:lnTo>
                    <a:pt x="10088880" y="0"/>
                  </a:lnTo>
                  <a:lnTo>
                    <a:pt x="10088880" y="8534400"/>
                  </a:lnTo>
                  <a:lnTo>
                    <a:pt x="0" y="853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196" t="0" r="-5687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00025"/>
              <a:ext cx="10088880" cy="873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Emphasize modular programming with switch-case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 high-precision calculations using math.h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 invalid inputs &amp; domain violations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Cover: Arithmetic, Trig, Log, Power, Combinatorics &amp; Matrix</a:t>
              </a:r>
            </a:p>
            <a:p>
              <a:pPr algn="l">
                <a:lnSpc>
                  <a:spcPts val="5039"/>
                </a:lnSpc>
              </a:pPr>
              <a:r>
                <a:rPr lang="en-US" sz="2999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Systematic error checking across all modules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559368" y="180598"/>
            <a:ext cx="2512266" cy="3003796"/>
          </a:xfrm>
          <a:custGeom>
            <a:avLst/>
            <a:gdLst/>
            <a:ahLst/>
            <a:cxnLst/>
            <a:rect r="r" b="b" t="t" l="l"/>
            <a:pathLst>
              <a:path h="3003796" w="2512266">
                <a:moveTo>
                  <a:pt x="0" y="0"/>
                </a:moveTo>
                <a:lnTo>
                  <a:pt x="2512266" y="0"/>
                </a:lnTo>
                <a:lnTo>
                  <a:pt x="2512266" y="3003796"/>
                </a:lnTo>
                <a:lnTo>
                  <a:pt x="0" y="3003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Team Members &amp; Tools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5167" y="2005327"/>
            <a:ext cx="8242297" cy="2847337"/>
            <a:chOff x="0" y="0"/>
            <a:chExt cx="10989729" cy="37964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89818" cy="3796538"/>
            </a:xfrm>
            <a:custGeom>
              <a:avLst/>
              <a:gdLst/>
              <a:ahLst/>
              <a:cxnLst/>
              <a:rect r="r" b="b" t="t" l="l"/>
              <a:pathLst>
                <a:path h="379653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3788029"/>
                  </a:lnTo>
                  <a:cubicBezTo>
                    <a:pt x="10989818" y="3792728"/>
                    <a:pt x="10986008" y="3796538"/>
                    <a:pt x="10981309" y="3796538"/>
                  </a:cubicBezTo>
                  <a:lnTo>
                    <a:pt x="8509" y="3796538"/>
                  </a:lnTo>
                  <a:cubicBezTo>
                    <a:pt x="3810" y="3796538"/>
                    <a:pt x="0" y="3792728"/>
                    <a:pt x="0" y="3788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788029"/>
                  </a:lnTo>
                  <a:lnTo>
                    <a:pt x="8509" y="3788029"/>
                  </a:lnTo>
                  <a:lnTo>
                    <a:pt x="8509" y="3779520"/>
                  </a:lnTo>
                  <a:lnTo>
                    <a:pt x="10981309" y="3779520"/>
                  </a:lnTo>
                  <a:lnTo>
                    <a:pt x="10981309" y="3788029"/>
                  </a:lnTo>
                  <a:lnTo>
                    <a:pt x="10972800" y="378802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609344"/>
            <a:ext cx="7315200" cy="73152"/>
            <a:chOff x="0" y="0"/>
            <a:chExt cx="9753600" cy="97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97536"/>
            </a:xfrm>
            <a:custGeom>
              <a:avLst/>
              <a:gdLst/>
              <a:ahLst/>
              <a:cxnLst/>
              <a:rect r="r" b="b" t="t" l="l"/>
              <a:pathLst>
                <a:path h="97536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2011680"/>
            <a:ext cx="109728" cy="2834640"/>
            <a:chOff x="0" y="0"/>
            <a:chExt cx="146304" cy="3779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3143" y="2547623"/>
            <a:ext cx="1031243" cy="1031243"/>
            <a:chOff x="0" y="0"/>
            <a:chExt cx="1374991" cy="1374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00D4AA">
                <a:alpha val="48627"/>
              </a:srgbClr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5840" y="2560320"/>
            <a:ext cx="1005840" cy="1005840"/>
            <a:chOff x="0" y="0"/>
            <a:chExt cx="13411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86000" y="2377440"/>
            <a:ext cx="6400800" cy="731520"/>
            <a:chOff x="0" y="0"/>
            <a:chExt cx="85344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8534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gradFill>
                    <a:gsLst>
                      <a:gs pos="0">
                        <a:srgbClr val="F3B0F2">
                          <a:alpha val="100000"/>
                        </a:srgbClr>
                      </a:gs>
                      <a:gs pos="100000">
                        <a:srgbClr val="FDF5B9">
                          <a:alpha val="100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K.M. Mohib Newaz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86000" y="3200400"/>
            <a:ext cx="3454758" cy="1280160"/>
            <a:chOff x="0" y="0"/>
            <a:chExt cx="4606344" cy="1706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06344" cy="1706880"/>
            </a:xfrm>
            <a:custGeom>
              <a:avLst/>
              <a:gdLst/>
              <a:ahLst/>
              <a:cxnLst/>
              <a:rect r="r" b="b" t="t" l="l"/>
              <a:pathLst>
                <a:path h="1706880" w="4606344">
                  <a:moveTo>
                    <a:pt x="0" y="0"/>
                  </a:moveTo>
                  <a:lnTo>
                    <a:pt x="4606344" y="0"/>
                  </a:lnTo>
                  <a:lnTo>
                    <a:pt x="4606344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-85274" b="-474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606344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gradFill>
                    <a:gsLst>
                      <a:gs pos="0">
                        <a:srgbClr val="7AF6EE">
                          <a:alpha val="100000"/>
                        </a:srgbClr>
                      </a:gs>
                      <a:gs pos="100000">
                        <a:srgbClr val="EAFFFE">
                          <a:alpha val="100000"/>
                        </a:srgbClr>
                      </a:gs>
                    </a:gsLst>
                    <a:lin ang="5400000"/>
                  </a:gra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Arithmetic Operations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4847" y="2005327"/>
            <a:ext cx="8242297" cy="2847337"/>
            <a:chOff x="0" y="0"/>
            <a:chExt cx="10989729" cy="37964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8509" y="850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89818" cy="3796538"/>
            </a:xfrm>
            <a:custGeom>
              <a:avLst/>
              <a:gdLst/>
              <a:ahLst/>
              <a:cxnLst/>
              <a:rect r="r" b="b" t="t" l="l"/>
              <a:pathLst>
                <a:path h="379653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3788029"/>
                  </a:lnTo>
                  <a:cubicBezTo>
                    <a:pt x="10989818" y="3792728"/>
                    <a:pt x="10986008" y="3796538"/>
                    <a:pt x="10981309" y="3796538"/>
                  </a:cubicBezTo>
                  <a:lnTo>
                    <a:pt x="8509" y="3796538"/>
                  </a:lnTo>
                  <a:cubicBezTo>
                    <a:pt x="3810" y="3796538"/>
                    <a:pt x="0" y="3792728"/>
                    <a:pt x="0" y="3788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788029"/>
                  </a:lnTo>
                  <a:lnTo>
                    <a:pt x="8509" y="3788029"/>
                  </a:lnTo>
                  <a:lnTo>
                    <a:pt x="8509" y="3779520"/>
                  </a:lnTo>
                  <a:lnTo>
                    <a:pt x="10981309" y="3779520"/>
                  </a:lnTo>
                  <a:lnTo>
                    <a:pt x="10981309" y="3788029"/>
                  </a:lnTo>
                  <a:lnTo>
                    <a:pt x="10972800" y="378802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0" y="2011680"/>
            <a:ext cx="109728" cy="2834640"/>
            <a:chOff x="0" y="0"/>
            <a:chExt cx="146304" cy="3779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62823" y="2547623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4F9CF9">
                <a:alpha val="48627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875520" y="2560320"/>
            <a:ext cx="1005840" cy="1005840"/>
            <a:chOff x="0" y="0"/>
            <a:chExt cx="1341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55680" y="2377440"/>
            <a:ext cx="6400800" cy="731520"/>
            <a:chOff x="0" y="0"/>
            <a:chExt cx="853440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8534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gradFill>
                    <a:gsLst>
                      <a:gs pos="0">
                        <a:srgbClr val="F3B0F2">
                          <a:alpha val="100000"/>
                        </a:srgbClr>
                      </a:gs>
                      <a:gs pos="100000">
                        <a:srgbClr val="FDF5B9">
                          <a:alpha val="100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Usayed Bin Gias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55680" y="3200400"/>
            <a:ext cx="6400800" cy="1280160"/>
            <a:chOff x="0" y="0"/>
            <a:chExt cx="8534400" cy="1706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85344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gradFill>
                    <a:gsLst>
                      <a:gs pos="0">
                        <a:srgbClr val="7AF6EE">
                          <a:alpha val="100000"/>
                        </a:srgbClr>
                      </a:gs>
                      <a:gs pos="100000">
                        <a:srgbClr val="EAFFFE">
                          <a:alpha val="100000"/>
                        </a:srgbClr>
                      </a:gs>
                    </a:gsLst>
                    <a:lin ang="5400000"/>
                  </a:gra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Trigonometric Operations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5167" y="5205727"/>
            <a:ext cx="8242297" cy="2847337"/>
            <a:chOff x="0" y="0"/>
            <a:chExt cx="10989729" cy="37964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89818" cy="3796538"/>
            </a:xfrm>
            <a:custGeom>
              <a:avLst/>
              <a:gdLst/>
              <a:ahLst/>
              <a:cxnLst/>
              <a:rect r="r" b="b" t="t" l="l"/>
              <a:pathLst>
                <a:path h="379653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3788029"/>
                  </a:lnTo>
                  <a:cubicBezTo>
                    <a:pt x="10989818" y="3792728"/>
                    <a:pt x="10986008" y="3796538"/>
                    <a:pt x="10981309" y="3796538"/>
                  </a:cubicBezTo>
                  <a:lnTo>
                    <a:pt x="8509" y="3796538"/>
                  </a:lnTo>
                  <a:cubicBezTo>
                    <a:pt x="3810" y="3796538"/>
                    <a:pt x="0" y="3792728"/>
                    <a:pt x="0" y="3788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788029"/>
                  </a:lnTo>
                  <a:lnTo>
                    <a:pt x="8509" y="3788029"/>
                  </a:lnTo>
                  <a:lnTo>
                    <a:pt x="8509" y="3779520"/>
                  </a:lnTo>
                  <a:lnTo>
                    <a:pt x="10981309" y="3779520"/>
                  </a:lnTo>
                  <a:lnTo>
                    <a:pt x="10981309" y="3788029"/>
                  </a:lnTo>
                  <a:lnTo>
                    <a:pt x="10972800" y="378802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" y="5212080"/>
            <a:ext cx="109728" cy="2834640"/>
            <a:chOff x="0" y="0"/>
            <a:chExt cx="146304" cy="3779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3143" y="5748023"/>
            <a:ext cx="1031243" cy="1031243"/>
            <a:chOff x="0" y="0"/>
            <a:chExt cx="1374991" cy="137499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3131">
                <a:alpha val="48627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93143" y="5806440"/>
            <a:ext cx="1005840" cy="1005840"/>
            <a:chOff x="0" y="0"/>
            <a:chExt cx="1341120" cy="134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286000" y="5577840"/>
            <a:ext cx="6400800" cy="731520"/>
            <a:chOff x="0" y="0"/>
            <a:chExt cx="853440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8534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gradFill>
                    <a:gsLst>
                      <a:gs pos="0">
                        <a:srgbClr val="F3B0F2">
                          <a:alpha val="100000"/>
                        </a:srgbClr>
                      </a:gs>
                      <a:gs pos="100000">
                        <a:srgbClr val="FDF5B9">
                          <a:alpha val="100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Abrar Shahriar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286000" y="6400800"/>
            <a:ext cx="6400800" cy="1280160"/>
            <a:chOff x="0" y="0"/>
            <a:chExt cx="8534400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85344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gradFill>
                    <a:gsLst>
                      <a:gs pos="0">
                        <a:srgbClr val="7AF6EE">
                          <a:alpha val="100000"/>
                        </a:srgbClr>
                      </a:gs>
                      <a:gs pos="100000">
                        <a:srgbClr val="EAFFFE">
                          <a:alpha val="100000"/>
                        </a:srgbClr>
                      </a:gs>
                    </a:gsLst>
                    <a:lin ang="5400000"/>
                  </a:gra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Logarithm, Factorial &amp; Perm/Comb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94847" y="5205727"/>
            <a:ext cx="8242297" cy="2847337"/>
            <a:chOff x="0" y="0"/>
            <a:chExt cx="10989729" cy="379644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1097280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89818" cy="3796538"/>
            </a:xfrm>
            <a:custGeom>
              <a:avLst/>
              <a:gdLst/>
              <a:ahLst/>
              <a:cxnLst/>
              <a:rect r="r" b="b" t="t" l="l"/>
              <a:pathLst>
                <a:path h="379653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3788029"/>
                  </a:lnTo>
                  <a:cubicBezTo>
                    <a:pt x="10989818" y="3792728"/>
                    <a:pt x="10986008" y="3796538"/>
                    <a:pt x="10981309" y="3796538"/>
                  </a:cubicBezTo>
                  <a:lnTo>
                    <a:pt x="8509" y="3796538"/>
                  </a:lnTo>
                  <a:cubicBezTo>
                    <a:pt x="3810" y="3796538"/>
                    <a:pt x="0" y="3792728"/>
                    <a:pt x="0" y="37880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788029"/>
                  </a:lnTo>
                  <a:lnTo>
                    <a:pt x="8509" y="3788029"/>
                  </a:lnTo>
                  <a:lnTo>
                    <a:pt x="8509" y="3779520"/>
                  </a:lnTo>
                  <a:lnTo>
                    <a:pt x="10981309" y="3779520"/>
                  </a:lnTo>
                  <a:lnTo>
                    <a:pt x="10981309" y="3788029"/>
                  </a:lnTo>
                  <a:lnTo>
                    <a:pt x="10972800" y="378802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5212080"/>
            <a:ext cx="109728" cy="2834640"/>
            <a:chOff x="0" y="0"/>
            <a:chExt cx="146304" cy="3779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304" cy="3779520"/>
            </a:xfrm>
            <a:custGeom>
              <a:avLst/>
              <a:gdLst/>
              <a:ahLst/>
              <a:cxnLst/>
              <a:rect r="r" b="b" t="t" l="l"/>
              <a:pathLst>
                <a:path h="3779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779520"/>
                  </a:lnTo>
                  <a:lnTo>
                    <a:pt x="0" y="3779520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62823" y="5748023"/>
            <a:ext cx="1031243" cy="1031243"/>
            <a:chOff x="0" y="0"/>
            <a:chExt cx="1374991" cy="13749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A371F7">
                <a:alpha val="48627"/>
              </a:srgbClr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75520" y="5760720"/>
            <a:ext cx="1005840" cy="1005840"/>
            <a:chOff x="0" y="0"/>
            <a:chExt cx="1341120" cy="13411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155680" y="5577840"/>
            <a:ext cx="6400800" cy="731520"/>
            <a:chOff x="0" y="0"/>
            <a:chExt cx="8534400" cy="9753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34400" cy="975360"/>
            </a:xfrm>
            <a:custGeom>
              <a:avLst/>
              <a:gdLst/>
              <a:ahLst/>
              <a:cxnLst/>
              <a:rect r="r" b="b" t="t" l="l"/>
              <a:pathLst>
                <a:path h="97536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8534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b="true" sz="3399">
                  <a:gradFill>
                    <a:gsLst>
                      <a:gs pos="0">
                        <a:srgbClr val="F3B0F2">
                          <a:alpha val="100000"/>
                        </a:srgbClr>
                      </a:gs>
                      <a:gs pos="100000">
                        <a:srgbClr val="FDF5B9">
                          <a:alpha val="100000"/>
                        </a:srgbClr>
                      </a:gs>
                    </a:gsLst>
                    <a:lin ang="0"/>
                  </a:gra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Augustine Gomes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155680" y="6400800"/>
            <a:ext cx="6400800" cy="1280160"/>
            <a:chOff x="0" y="0"/>
            <a:chExt cx="8534400" cy="17068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853440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gradFill>
                    <a:gsLst>
                      <a:gs pos="0">
                        <a:srgbClr val="7AF6EE">
                          <a:alpha val="100000"/>
                        </a:srgbClr>
                      </a:gs>
                      <a:gs pos="100000">
                        <a:srgbClr val="EAFFFE">
                          <a:alpha val="100000"/>
                        </a:srgbClr>
                      </a:gs>
                    </a:gsLst>
                    <a:lin ang="5400000"/>
                  </a:gra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Power &amp; Root + Matrix Operations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31520" y="8503920"/>
            <a:ext cx="16824960" cy="548640"/>
            <a:chOff x="0" y="0"/>
            <a:chExt cx="2243328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spc="400">
                  <a:solidFill>
                    <a:srgbClr val="D9D9D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TOOLS &amp; ENVIRONMENT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22633" y="9043673"/>
            <a:ext cx="4041143" cy="932183"/>
            <a:chOff x="0" y="0"/>
            <a:chExt cx="5388191" cy="124291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11811" y="11811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D4AA">
                <a:alpha val="1961"/>
              </a:srgbClr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388102" cy="1242822"/>
            </a:xfrm>
            <a:custGeom>
              <a:avLst/>
              <a:gdLst/>
              <a:ahLst/>
              <a:cxnLst/>
              <a:rect r="r" b="b" t="t" l="l"/>
              <a:pathLst>
                <a:path h="1242822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1231011"/>
                  </a:lnTo>
                  <a:cubicBezTo>
                    <a:pt x="5388102" y="1237615"/>
                    <a:pt x="5382768" y="1242822"/>
                    <a:pt x="5376291" y="1242822"/>
                  </a:cubicBezTo>
                  <a:lnTo>
                    <a:pt x="11811" y="1242822"/>
                  </a:lnTo>
                  <a:cubicBezTo>
                    <a:pt x="5207" y="1242822"/>
                    <a:pt x="0" y="1237488"/>
                    <a:pt x="0" y="12310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231011"/>
                  </a:lnTo>
                  <a:lnTo>
                    <a:pt x="11811" y="1231011"/>
                  </a:lnTo>
                  <a:lnTo>
                    <a:pt x="11811" y="1219200"/>
                  </a:lnTo>
                  <a:lnTo>
                    <a:pt x="5376291" y="1219200"/>
                  </a:lnTo>
                  <a:lnTo>
                    <a:pt x="5376291" y="1231011"/>
                  </a:lnTo>
                  <a:lnTo>
                    <a:pt x="5364480" y="1231011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31520" y="9052560"/>
            <a:ext cx="4023360" cy="914400"/>
            <a:chOff x="0" y="0"/>
            <a:chExt cx="5364480" cy="1219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0D4A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Language: </a:t>
              </a:r>
              <a:r>
                <a:rPr lang="en-US" sz="20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075177" y="9043673"/>
            <a:ext cx="4041143" cy="932183"/>
            <a:chOff x="0" y="0"/>
            <a:chExt cx="5388191" cy="12429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11811" y="11811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4F9CF9">
                <a:alpha val="1961"/>
              </a:srgbClr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388102" cy="1242822"/>
            </a:xfrm>
            <a:custGeom>
              <a:avLst/>
              <a:gdLst/>
              <a:ahLst/>
              <a:cxnLst/>
              <a:rect r="r" b="b" t="t" l="l"/>
              <a:pathLst>
                <a:path h="1242822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1231011"/>
                  </a:lnTo>
                  <a:cubicBezTo>
                    <a:pt x="5388102" y="1237615"/>
                    <a:pt x="5382768" y="1242822"/>
                    <a:pt x="5376291" y="1242822"/>
                  </a:cubicBezTo>
                  <a:lnTo>
                    <a:pt x="11811" y="1242822"/>
                  </a:lnTo>
                  <a:cubicBezTo>
                    <a:pt x="5207" y="1242822"/>
                    <a:pt x="0" y="1237488"/>
                    <a:pt x="0" y="12310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231011"/>
                  </a:lnTo>
                  <a:lnTo>
                    <a:pt x="11811" y="1231011"/>
                  </a:lnTo>
                  <a:lnTo>
                    <a:pt x="11811" y="1219200"/>
                  </a:lnTo>
                  <a:lnTo>
                    <a:pt x="5376291" y="1219200"/>
                  </a:lnTo>
                  <a:lnTo>
                    <a:pt x="5376291" y="1231011"/>
                  </a:lnTo>
                  <a:lnTo>
                    <a:pt x="5364480" y="1231011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5084064" y="9052560"/>
            <a:ext cx="4023360" cy="914400"/>
            <a:chOff x="0" y="0"/>
            <a:chExt cx="5364480" cy="12192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F9C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Compiler: </a:t>
              </a:r>
              <a:r>
                <a:rPr lang="en-US" sz="20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GCC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27721" y="9043673"/>
            <a:ext cx="4041143" cy="932183"/>
            <a:chOff x="0" y="0"/>
            <a:chExt cx="5388191" cy="12429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11811" y="11811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8166">
                <a:alpha val="1961"/>
              </a:srgbClr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388102" cy="1242822"/>
            </a:xfrm>
            <a:custGeom>
              <a:avLst/>
              <a:gdLst/>
              <a:ahLst/>
              <a:cxnLst/>
              <a:rect r="r" b="b" t="t" l="l"/>
              <a:pathLst>
                <a:path h="1242822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1231011"/>
                  </a:lnTo>
                  <a:cubicBezTo>
                    <a:pt x="5388102" y="1237615"/>
                    <a:pt x="5382768" y="1242822"/>
                    <a:pt x="5376291" y="1242822"/>
                  </a:cubicBezTo>
                  <a:lnTo>
                    <a:pt x="11811" y="1242822"/>
                  </a:lnTo>
                  <a:cubicBezTo>
                    <a:pt x="5207" y="1242822"/>
                    <a:pt x="0" y="1237488"/>
                    <a:pt x="0" y="12310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231011"/>
                  </a:lnTo>
                  <a:lnTo>
                    <a:pt x="11811" y="1231011"/>
                  </a:lnTo>
                  <a:lnTo>
                    <a:pt x="11811" y="1219200"/>
                  </a:lnTo>
                  <a:lnTo>
                    <a:pt x="5376291" y="1219200"/>
                  </a:lnTo>
                  <a:lnTo>
                    <a:pt x="5376291" y="1231011"/>
                  </a:lnTo>
                  <a:lnTo>
                    <a:pt x="5364480" y="1231011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436608" y="9052560"/>
            <a:ext cx="4023360" cy="914400"/>
            <a:chOff x="0" y="0"/>
            <a:chExt cx="5364480" cy="1219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781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Libraries: </a:t>
              </a:r>
              <a:r>
                <a:rPr lang="en-US" sz="20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stdio.h  math.h  stdlib.h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780265" y="9043673"/>
            <a:ext cx="4041143" cy="932183"/>
            <a:chOff x="0" y="0"/>
            <a:chExt cx="5388191" cy="1242911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11811" y="11811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A371F7">
                <a:alpha val="1961"/>
              </a:srgbClr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388102" cy="1242822"/>
            </a:xfrm>
            <a:custGeom>
              <a:avLst/>
              <a:gdLst/>
              <a:ahLst/>
              <a:cxnLst/>
              <a:rect r="r" b="b" t="t" l="l"/>
              <a:pathLst>
                <a:path h="1242822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1231011"/>
                  </a:lnTo>
                  <a:cubicBezTo>
                    <a:pt x="5388102" y="1237615"/>
                    <a:pt x="5382768" y="1242822"/>
                    <a:pt x="5376291" y="1242822"/>
                  </a:cubicBezTo>
                  <a:lnTo>
                    <a:pt x="11811" y="1242822"/>
                  </a:lnTo>
                  <a:cubicBezTo>
                    <a:pt x="5207" y="1242822"/>
                    <a:pt x="0" y="1237488"/>
                    <a:pt x="0" y="123101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1231011"/>
                  </a:lnTo>
                  <a:lnTo>
                    <a:pt x="11811" y="1231011"/>
                  </a:lnTo>
                  <a:lnTo>
                    <a:pt x="11811" y="1219200"/>
                  </a:lnTo>
                  <a:lnTo>
                    <a:pt x="5376291" y="1219200"/>
                  </a:lnTo>
                  <a:lnTo>
                    <a:pt x="5376291" y="1231011"/>
                  </a:lnTo>
                  <a:lnTo>
                    <a:pt x="5364480" y="1231011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3789152" y="9052560"/>
            <a:ext cx="4023360" cy="914400"/>
            <a:chOff x="0" y="0"/>
            <a:chExt cx="5364480" cy="1219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364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3644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A371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Platform: </a:t>
              </a:r>
              <a:r>
                <a:rPr lang="en-US" sz="20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Code::Blocks / Windows</a:t>
              </a: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1887055">
            <a:off x="7611180" y="3273733"/>
            <a:ext cx="1014171" cy="995732"/>
          </a:xfrm>
          <a:custGeom>
            <a:avLst/>
            <a:gdLst/>
            <a:ahLst/>
            <a:cxnLst/>
            <a:rect r="r" b="b" t="t" l="l"/>
            <a:pathLst>
              <a:path h="995732" w="1014171">
                <a:moveTo>
                  <a:pt x="0" y="0"/>
                </a:moveTo>
                <a:lnTo>
                  <a:pt x="1014172" y="0"/>
                </a:lnTo>
                <a:lnTo>
                  <a:pt x="1014172" y="995732"/>
                </a:lnTo>
                <a:lnTo>
                  <a:pt x="0" y="995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7457772" y="6350166"/>
            <a:ext cx="1362378" cy="1362378"/>
          </a:xfrm>
          <a:custGeom>
            <a:avLst/>
            <a:gdLst/>
            <a:ahLst/>
            <a:cxnLst/>
            <a:rect r="r" b="b" t="t" l="l"/>
            <a:pathLst>
              <a:path h="1362378" w="1362378">
                <a:moveTo>
                  <a:pt x="0" y="0"/>
                </a:moveTo>
                <a:lnTo>
                  <a:pt x="1362378" y="0"/>
                </a:lnTo>
                <a:lnTo>
                  <a:pt x="1362378" y="1362378"/>
                </a:lnTo>
                <a:lnTo>
                  <a:pt x="0" y="1362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6233143" y="3063240"/>
            <a:ext cx="1323337" cy="1323337"/>
          </a:xfrm>
          <a:custGeom>
            <a:avLst/>
            <a:gdLst/>
            <a:ahLst/>
            <a:cxnLst/>
            <a:rect r="r" b="b" t="t" l="l"/>
            <a:pathLst>
              <a:path h="1323337" w="1323337">
                <a:moveTo>
                  <a:pt x="0" y="0"/>
                </a:moveTo>
                <a:lnTo>
                  <a:pt x="1323337" y="0"/>
                </a:lnTo>
                <a:lnTo>
                  <a:pt x="1323337" y="1323337"/>
                </a:lnTo>
                <a:lnTo>
                  <a:pt x="0" y="13233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16275691" y="6340159"/>
            <a:ext cx="1401442" cy="1401442"/>
          </a:xfrm>
          <a:custGeom>
            <a:avLst/>
            <a:gdLst/>
            <a:ahLst/>
            <a:cxnLst/>
            <a:rect r="r" b="b" t="t" l="l"/>
            <a:pathLst>
              <a:path h="1401442" w="1401442">
                <a:moveTo>
                  <a:pt x="0" y="0"/>
                </a:moveTo>
                <a:lnTo>
                  <a:pt x="1401442" y="0"/>
                </a:lnTo>
                <a:lnTo>
                  <a:pt x="1401442" y="1401442"/>
                </a:lnTo>
                <a:lnTo>
                  <a:pt x="0" y="14014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09344"/>
            <a:ext cx="6400800" cy="73152"/>
            <a:chOff x="0" y="0"/>
            <a:chExt cx="8534400" cy="975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34400" cy="97536"/>
            </a:xfrm>
            <a:custGeom>
              <a:avLst/>
              <a:gdLst/>
              <a:ahLst/>
              <a:cxnLst/>
              <a:rect r="r" b="b" t="t" l="l"/>
              <a:pathLst>
                <a:path h="97536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9590" y="4004310"/>
            <a:ext cx="2781300" cy="1501140"/>
            <a:chOff x="0" y="0"/>
            <a:chExt cx="3708400" cy="200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D4AA">
                <a:alpha val="5882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08400" cy="2001520"/>
            </a:xfrm>
            <a:custGeom>
              <a:avLst/>
              <a:gdLst/>
              <a:ahLst/>
              <a:cxnLst/>
              <a:rect r="r" b="b" t="t" l="l"/>
              <a:pathLst>
                <a:path h="2001520" w="3708400">
                  <a:moveTo>
                    <a:pt x="25400" y="0"/>
                  </a:moveTo>
                  <a:lnTo>
                    <a:pt x="3683000" y="0"/>
                  </a:lnTo>
                  <a:cubicBezTo>
                    <a:pt x="3696970" y="0"/>
                    <a:pt x="3708400" y="11430"/>
                    <a:pt x="3708400" y="25400"/>
                  </a:cubicBezTo>
                  <a:lnTo>
                    <a:pt x="3708400" y="1976120"/>
                  </a:lnTo>
                  <a:cubicBezTo>
                    <a:pt x="3708400" y="1990090"/>
                    <a:pt x="3696970" y="2001520"/>
                    <a:pt x="368300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3683000" y="1950720"/>
                  </a:lnTo>
                  <a:lnTo>
                    <a:pt x="3683000" y="1976120"/>
                  </a:lnTo>
                  <a:lnTo>
                    <a:pt x="3657600" y="1976120"/>
                  </a:lnTo>
                  <a:lnTo>
                    <a:pt x="3657600" y="25400"/>
                  </a:lnTo>
                  <a:lnTo>
                    <a:pt x="3683000" y="25400"/>
                  </a:lnTo>
                  <a:lnTo>
                    <a:pt x="368300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4023360"/>
            <a:ext cx="2743200" cy="1463040"/>
            <a:chOff x="0" y="0"/>
            <a:chExt cx="36576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428" t="0" r="-18428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65760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Program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Start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272790" y="4735830"/>
            <a:ext cx="769620" cy="38100"/>
            <a:chOff x="0" y="0"/>
            <a:chExt cx="1026160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0"/>
              <a:ext cx="975360" cy="50800"/>
            </a:xfrm>
            <a:custGeom>
              <a:avLst/>
              <a:gdLst/>
              <a:ahLst/>
              <a:cxnLst/>
              <a:rect r="r" b="b" t="t" l="l"/>
              <a:pathLst>
                <a:path h="508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004310" y="4004310"/>
            <a:ext cx="3329940" cy="1501140"/>
            <a:chOff x="0" y="0"/>
            <a:chExt cx="4439920" cy="200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43891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4F9CF9">
                <a:alpha val="5882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9920" cy="2001520"/>
            </a:xfrm>
            <a:custGeom>
              <a:avLst/>
              <a:gdLst/>
              <a:ahLst/>
              <a:cxnLst/>
              <a:rect r="r" b="b" t="t" l="l"/>
              <a:pathLst>
                <a:path h="2001520" w="4439920">
                  <a:moveTo>
                    <a:pt x="25400" y="0"/>
                  </a:moveTo>
                  <a:lnTo>
                    <a:pt x="4414520" y="0"/>
                  </a:lnTo>
                  <a:cubicBezTo>
                    <a:pt x="4428490" y="0"/>
                    <a:pt x="4439920" y="11430"/>
                    <a:pt x="4439920" y="25400"/>
                  </a:cubicBezTo>
                  <a:lnTo>
                    <a:pt x="4439920" y="1976120"/>
                  </a:lnTo>
                  <a:cubicBezTo>
                    <a:pt x="4439920" y="1990090"/>
                    <a:pt x="4428490" y="2001520"/>
                    <a:pt x="441452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4414520" y="1950720"/>
                  </a:lnTo>
                  <a:lnTo>
                    <a:pt x="4414520" y="1976120"/>
                  </a:lnTo>
                  <a:lnTo>
                    <a:pt x="4389120" y="1976120"/>
                  </a:lnTo>
                  <a:lnTo>
                    <a:pt x="4389120" y="25400"/>
                  </a:lnTo>
                  <a:lnTo>
                    <a:pt x="4414520" y="25400"/>
                  </a:lnTo>
                  <a:lnTo>
                    <a:pt x="441452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023360" y="4023360"/>
            <a:ext cx="3291840" cy="1463040"/>
            <a:chOff x="0" y="0"/>
            <a:chExt cx="438912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023" t="0" r="-702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438912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Main Menu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(Switch-Case)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96150" y="4735830"/>
            <a:ext cx="586740" cy="38100"/>
            <a:chOff x="0" y="0"/>
            <a:chExt cx="782320" cy="50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844790" y="4004310"/>
            <a:ext cx="3512820" cy="1501140"/>
            <a:chOff x="0" y="0"/>
            <a:chExt cx="4683760" cy="200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4632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F78166">
                <a:alpha val="588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83760" cy="2001520"/>
            </a:xfrm>
            <a:custGeom>
              <a:avLst/>
              <a:gdLst/>
              <a:ahLst/>
              <a:cxnLst/>
              <a:rect r="r" b="b" t="t" l="l"/>
              <a:pathLst>
                <a:path h="2001520" w="4683760">
                  <a:moveTo>
                    <a:pt x="25400" y="0"/>
                  </a:moveTo>
                  <a:lnTo>
                    <a:pt x="4658360" y="0"/>
                  </a:lnTo>
                  <a:cubicBezTo>
                    <a:pt x="4672330" y="0"/>
                    <a:pt x="4683760" y="11430"/>
                    <a:pt x="4683760" y="25400"/>
                  </a:cubicBezTo>
                  <a:lnTo>
                    <a:pt x="4683760" y="1976120"/>
                  </a:lnTo>
                  <a:cubicBezTo>
                    <a:pt x="4683760" y="1990090"/>
                    <a:pt x="4672330" y="2001520"/>
                    <a:pt x="465836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4658360" y="1950720"/>
                  </a:lnTo>
                  <a:lnTo>
                    <a:pt x="4658360" y="1976120"/>
                  </a:lnTo>
                  <a:lnTo>
                    <a:pt x="4632960" y="1976120"/>
                  </a:lnTo>
                  <a:lnTo>
                    <a:pt x="4632960" y="25400"/>
                  </a:lnTo>
                  <a:lnTo>
                    <a:pt x="4658360" y="25400"/>
                  </a:lnTo>
                  <a:lnTo>
                    <a:pt x="46583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63840" y="4023360"/>
            <a:ext cx="3474720" cy="1463040"/>
            <a:chOff x="0" y="0"/>
            <a:chExt cx="463296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329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6329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Segment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Function Called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19510" y="4735830"/>
            <a:ext cx="586740" cy="38100"/>
            <a:chOff x="0" y="0"/>
            <a:chExt cx="782320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731520" cy="50800"/>
            </a:xfrm>
            <a:custGeom>
              <a:avLst/>
              <a:gdLst/>
              <a:ahLst/>
              <a:cxnLst/>
              <a:rect r="r" b="b" t="t" l="l"/>
              <a:pathLst>
                <a:path h="508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68150" y="4004310"/>
            <a:ext cx="2964180" cy="1501140"/>
            <a:chOff x="0" y="0"/>
            <a:chExt cx="3952240" cy="200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5400" y="25400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A371F7">
                <a:alpha val="5882"/>
              </a:srgbClr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2240" cy="2001520"/>
            </a:xfrm>
            <a:custGeom>
              <a:avLst/>
              <a:gdLst/>
              <a:ahLst/>
              <a:cxnLst/>
              <a:rect r="r" b="b" t="t" l="l"/>
              <a:pathLst>
                <a:path h="2001520" w="3952240">
                  <a:moveTo>
                    <a:pt x="25400" y="0"/>
                  </a:moveTo>
                  <a:lnTo>
                    <a:pt x="3926840" y="0"/>
                  </a:lnTo>
                  <a:cubicBezTo>
                    <a:pt x="3940810" y="0"/>
                    <a:pt x="3952240" y="11430"/>
                    <a:pt x="3952240" y="25400"/>
                  </a:cubicBezTo>
                  <a:lnTo>
                    <a:pt x="3952240" y="1976120"/>
                  </a:lnTo>
                  <a:cubicBezTo>
                    <a:pt x="3952240" y="1990090"/>
                    <a:pt x="3940810" y="2001520"/>
                    <a:pt x="392684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3926840" y="1950720"/>
                  </a:lnTo>
                  <a:lnTo>
                    <a:pt x="3926840" y="1976120"/>
                  </a:lnTo>
                  <a:lnTo>
                    <a:pt x="3901440" y="1976120"/>
                  </a:lnTo>
                  <a:lnTo>
                    <a:pt x="3901440" y="25400"/>
                  </a:lnTo>
                  <a:lnTo>
                    <a:pt x="3926840" y="25400"/>
                  </a:lnTo>
                  <a:lnTo>
                    <a:pt x="392684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887200" y="4023360"/>
            <a:ext cx="2926080" cy="1463040"/>
            <a:chOff x="0" y="0"/>
            <a:chExt cx="390144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390144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Sub-Menu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&amp; Input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794230" y="4735830"/>
            <a:ext cx="403860" cy="38100"/>
            <a:chOff x="0" y="0"/>
            <a:chExt cx="53848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25400" y="0"/>
              <a:ext cx="487680" cy="50800"/>
            </a:xfrm>
            <a:custGeom>
              <a:avLst/>
              <a:gdLst/>
              <a:ahLst/>
              <a:cxnLst/>
              <a:rect r="r" b="b" t="t" l="l"/>
              <a:pathLst>
                <a:path h="5080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159990" y="4004310"/>
            <a:ext cx="2598420" cy="1501140"/>
            <a:chOff x="0" y="0"/>
            <a:chExt cx="3464560" cy="200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400" y="25400"/>
              <a:ext cx="3413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00D4AA">
                <a:alpha val="5882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64560" cy="2001520"/>
            </a:xfrm>
            <a:custGeom>
              <a:avLst/>
              <a:gdLst/>
              <a:ahLst/>
              <a:cxnLst/>
              <a:rect r="r" b="b" t="t" l="l"/>
              <a:pathLst>
                <a:path h="2001520" w="3464560">
                  <a:moveTo>
                    <a:pt x="25400" y="0"/>
                  </a:moveTo>
                  <a:lnTo>
                    <a:pt x="3439160" y="0"/>
                  </a:lnTo>
                  <a:cubicBezTo>
                    <a:pt x="3453130" y="0"/>
                    <a:pt x="3464560" y="11430"/>
                    <a:pt x="3464560" y="25400"/>
                  </a:cubicBezTo>
                  <a:lnTo>
                    <a:pt x="3464560" y="1976120"/>
                  </a:lnTo>
                  <a:cubicBezTo>
                    <a:pt x="3464560" y="1990090"/>
                    <a:pt x="3453130" y="2001520"/>
                    <a:pt x="3439160" y="2001520"/>
                  </a:cubicBezTo>
                  <a:lnTo>
                    <a:pt x="25400" y="2001520"/>
                  </a:lnTo>
                  <a:cubicBezTo>
                    <a:pt x="11430" y="2001520"/>
                    <a:pt x="0" y="1990090"/>
                    <a:pt x="0" y="197612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1976120"/>
                  </a:lnTo>
                  <a:lnTo>
                    <a:pt x="25400" y="1976120"/>
                  </a:lnTo>
                  <a:lnTo>
                    <a:pt x="25400" y="1950720"/>
                  </a:lnTo>
                  <a:lnTo>
                    <a:pt x="3439160" y="1950720"/>
                  </a:lnTo>
                  <a:lnTo>
                    <a:pt x="3439160" y="1976120"/>
                  </a:lnTo>
                  <a:lnTo>
                    <a:pt x="3413760" y="1976120"/>
                  </a:lnTo>
                  <a:lnTo>
                    <a:pt x="3413760" y="25400"/>
                  </a:lnTo>
                  <a:lnTo>
                    <a:pt x="3439160" y="25400"/>
                  </a:lnTo>
                  <a:lnTo>
                    <a:pt x="3439160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179040" y="4023360"/>
            <a:ext cx="2560320" cy="1463040"/>
            <a:chOff x="0" y="0"/>
            <a:chExt cx="341376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3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34137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Compute</a:t>
              </a:r>
            </a:p>
            <a:p>
              <a:pPr algn="ctr">
                <a:lnSpc>
                  <a:spcPts val="35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&amp; Display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078075" y="5624832"/>
            <a:ext cx="25403" cy="939803"/>
            <a:chOff x="0" y="0"/>
            <a:chExt cx="33871" cy="12530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16891"/>
              <a:ext cx="33909" cy="1219200"/>
            </a:xfrm>
            <a:custGeom>
              <a:avLst/>
              <a:gdLst/>
              <a:ahLst/>
              <a:cxnLst/>
              <a:rect r="r" b="b" t="t" l="l"/>
              <a:pathLst>
                <a:path h="1219200" w="33909">
                  <a:moveTo>
                    <a:pt x="33909" y="0"/>
                  </a:moveTo>
                  <a:lnTo>
                    <a:pt x="33909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594735" y="6583685"/>
            <a:ext cx="11537318" cy="47625"/>
            <a:chOff x="0" y="0"/>
            <a:chExt cx="15383091" cy="63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3725" y="0"/>
              <a:ext cx="15300565" cy="63538"/>
            </a:xfrm>
            <a:custGeom>
              <a:avLst/>
              <a:gdLst/>
              <a:ahLst/>
              <a:cxnLst/>
              <a:rect r="r" b="b" t="t" l="l"/>
              <a:pathLst>
                <a:path h="63538" w="15300565">
                  <a:moveTo>
                    <a:pt x="192667" y="0"/>
                  </a:moveTo>
                  <a:lnTo>
                    <a:pt x="275224" y="0"/>
                  </a:lnTo>
                  <a:lnTo>
                    <a:pt x="275224" y="63538"/>
                  </a:lnTo>
                  <a:lnTo>
                    <a:pt x="192667" y="63538"/>
                  </a:lnTo>
                  <a:close/>
                  <a:moveTo>
                    <a:pt x="385334" y="0"/>
                  </a:moveTo>
                  <a:lnTo>
                    <a:pt x="467891" y="0"/>
                  </a:lnTo>
                  <a:lnTo>
                    <a:pt x="467891" y="63538"/>
                  </a:lnTo>
                  <a:lnTo>
                    <a:pt x="385334" y="63538"/>
                  </a:lnTo>
                  <a:close/>
                  <a:moveTo>
                    <a:pt x="577898" y="0"/>
                  </a:moveTo>
                  <a:lnTo>
                    <a:pt x="660455" y="0"/>
                  </a:lnTo>
                  <a:lnTo>
                    <a:pt x="660455" y="63538"/>
                  </a:lnTo>
                  <a:lnTo>
                    <a:pt x="577898" y="63538"/>
                  </a:lnTo>
                  <a:close/>
                  <a:moveTo>
                    <a:pt x="770565" y="0"/>
                  </a:moveTo>
                  <a:lnTo>
                    <a:pt x="853122" y="0"/>
                  </a:lnTo>
                  <a:lnTo>
                    <a:pt x="853122" y="63538"/>
                  </a:lnTo>
                  <a:lnTo>
                    <a:pt x="770565" y="63538"/>
                  </a:lnTo>
                  <a:close/>
                  <a:moveTo>
                    <a:pt x="963232" y="0"/>
                  </a:moveTo>
                  <a:lnTo>
                    <a:pt x="1045789" y="0"/>
                  </a:lnTo>
                  <a:lnTo>
                    <a:pt x="1045789" y="63538"/>
                  </a:lnTo>
                  <a:lnTo>
                    <a:pt x="963232" y="63538"/>
                  </a:lnTo>
                  <a:close/>
                  <a:moveTo>
                    <a:pt x="1155899" y="63538"/>
                  </a:moveTo>
                  <a:lnTo>
                    <a:pt x="1238456" y="63538"/>
                  </a:lnTo>
                  <a:lnTo>
                    <a:pt x="1155899" y="63538"/>
                  </a:lnTo>
                  <a:close/>
                  <a:moveTo>
                    <a:pt x="1348462" y="0"/>
                  </a:moveTo>
                  <a:lnTo>
                    <a:pt x="1431019" y="0"/>
                  </a:lnTo>
                  <a:lnTo>
                    <a:pt x="1431019" y="63538"/>
                  </a:lnTo>
                  <a:lnTo>
                    <a:pt x="1348462" y="63538"/>
                  </a:lnTo>
                  <a:close/>
                  <a:moveTo>
                    <a:pt x="1541130" y="63538"/>
                  </a:moveTo>
                  <a:lnTo>
                    <a:pt x="1623686" y="63538"/>
                  </a:lnTo>
                  <a:lnTo>
                    <a:pt x="1541130" y="63538"/>
                  </a:lnTo>
                  <a:close/>
                  <a:moveTo>
                    <a:pt x="1733796" y="63538"/>
                  </a:moveTo>
                  <a:lnTo>
                    <a:pt x="1816353" y="63538"/>
                  </a:lnTo>
                  <a:lnTo>
                    <a:pt x="1733796" y="63538"/>
                  </a:lnTo>
                  <a:close/>
                  <a:moveTo>
                    <a:pt x="1926360" y="0"/>
                  </a:moveTo>
                  <a:lnTo>
                    <a:pt x="2008917" y="0"/>
                  </a:lnTo>
                  <a:lnTo>
                    <a:pt x="2008917" y="63538"/>
                  </a:lnTo>
                  <a:lnTo>
                    <a:pt x="1926360" y="63538"/>
                  </a:lnTo>
                  <a:close/>
                  <a:moveTo>
                    <a:pt x="2119027" y="63538"/>
                  </a:moveTo>
                  <a:lnTo>
                    <a:pt x="2201584" y="63538"/>
                  </a:lnTo>
                  <a:lnTo>
                    <a:pt x="2119027" y="63538"/>
                  </a:lnTo>
                  <a:close/>
                  <a:moveTo>
                    <a:pt x="2311694" y="63538"/>
                  </a:moveTo>
                  <a:lnTo>
                    <a:pt x="2394251" y="63538"/>
                  </a:lnTo>
                  <a:lnTo>
                    <a:pt x="2311694" y="63538"/>
                  </a:lnTo>
                  <a:close/>
                  <a:moveTo>
                    <a:pt x="2504258" y="0"/>
                  </a:moveTo>
                  <a:lnTo>
                    <a:pt x="2586815" y="0"/>
                  </a:lnTo>
                  <a:lnTo>
                    <a:pt x="2586815" y="63538"/>
                  </a:lnTo>
                  <a:lnTo>
                    <a:pt x="2504258" y="63538"/>
                  </a:lnTo>
                  <a:close/>
                  <a:moveTo>
                    <a:pt x="2696925" y="63538"/>
                  </a:moveTo>
                  <a:lnTo>
                    <a:pt x="2779482" y="63538"/>
                  </a:lnTo>
                  <a:lnTo>
                    <a:pt x="2696925" y="63538"/>
                  </a:lnTo>
                  <a:close/>
                  <a:moveTo>
                    <a:pt x="2889592" y="63538"/>
                  </a:moveTo>
                  <a:lnTo>
                    <a:pt x="2972149" y="63538"/>
                  </a:lnTo>
                  <a:lnTo>
                    <a:pt x="2889592" y="63538"/>
                  </a:lnTo>
                  <a:close/>
                  <a:moveTo>
                    <a:pt x="3082156" y="0"/>
                  </a:moveTo>
                  <a:lnTo>
                    <a:pt x="3164713" y="0"/>
                  </a:lnTo>
                  <a:lnTo>
                    <a:pt x="3164713" y="63538"/>
                  </a:lnTo>
                  <a:lnTo>
                    <a:pt x="3082156" y="63538"/>
                  </a:lnTo>
                  <a:close/>
                  <a:moveTo>
                    <a:pt x="3274823" y="63538"/>
                  </a:moveTo>
                  <a:lnTo>
                    <a:pt x="3357380" y="63538"/>
                  </a:lnTo>
                  <a:lnTo>
                    <a:pt x="3274823" y="63538"/>
                  </a:lnTo>
                  <a:close/>
                  <a:moveTo>
                    <a:pt x="3467490" y="63538"/>
                  </a:moveTo>
                  <a:lnTo>
                    <a:pt x="3550047" y="63538"/>
                  </a:lnTo>
                  <a:lnTo>
                    <a:pt x="3467490" y="63538"/>
                  </a:lnTo>
                  <a:close/>
                  <a:moveTo>
                    <a:pt x="3660053" y="0"/>
                  </a:moveTo>
                  <a:lnTo>
                    <a:pt x="3742610" y="0"/>
                  </a:lnTo>
                  <a:lnTo>
                    <a:pt x="3742610" y="63538"/>
                  </a:lnTo>
                  <a:lnTo>
                    <a:pt x="3660053" y="63538"/>
                  </a:lnTo>
                  <a:close/>
                  <a:moveTo>
                    <a:pt x="3852721" y="63538"/>
                  </a:moveTo>
                  <a:lnTo>
                    <a:pt x="3935277" y="63538"/>
                  </a:lnTo>
                  <a:lnTo>
                    <a:pt x="3852721" y="63538"/>
                  </a:lnTo>
                  <a:close/>
                  <a:moveTo>
                    <a:pt x="4045387" y="63538"/>
                  </a:moveTo>
                  <a:lnTo>
                    <a:pt x="4127944" y="63538"/>
                  </a:lnTo>
                  <a:lnTo>
                    <a:pt x="4045387" y="63538"/>
                  </a:lnTo>
                  <a:close/>
                  <a:moveTo>
                    <a:pt x="4237951" y="0"/>
                  </a:moveTo>
                  <a:lnTo>
                    <a:pt x="4320508" y="0"/>
                  </a:lnTo>
                  <a:lnTo>
                    <a:pt x="4320508" y="63538"/>
                  </a:lnTo>
                  <a:lnTo>
                    <a:pt x="4237951" y="63538"/>
                  </a:lnTo>
                  <a:close/>
                  <a:moveTo>
                    <a:pt x="4430618" y="63538"/>
                  </a:moveTo>
                  <a:lnTo>
                    <a:pt x="4513175" y="63538"/>
                  </a:lnTo>
                  <a:lnTo>
                    <a:pt x="4430618" y="63538"/>
                  </a:lnTo>
                  <a:close/>
                  <a:moveTo>
                    <a:pt x="4623285" y="63538"/>
                  </a:moveTo>
                  <a:lnTo>
                    <a:pt x="4705842" y="63538"/>
                  </a:lnTo>
                  <a:lnTo>
                    <a:pt x="4623285" y="63538"/>
                  </a:lnTo>
                  <a:close/>
                  <a:moveTo>
                    <a:pt x="4815849" y="0"/>
                  </a:moveTo>
                  <a:lnTo>
                    <a:pt x="4898406" y="0"/>
                  </a:lnTo>
                  <a:lnTo>
                    <a:pt x="4898406" y="63538"/>
                  </a:lnTo>
                  <a:lnTo>
                    <a:pt x="4815849" y="63538"/>
                  </a:lnTo>
                  <a:close/>
                  <a:moveTo>
                    <a:pt x="5008516" y="63538"/>
                  </a:moveTo>
                  <a:lnTo>
                    <a:pt x="5091073" y="63538"/>
                  </a:lnTo>
                  <a:lnTo>
                    <a:pt x="5008516" y="63538"/>
                  </a:lnTo>
                  <a:close/>
                  <a:moveTo>
                    <a:pt x="5201183" y="63538"/>
                  </a:moveTo>
                  <a:lnTo>
                    <a:pt x="5283740" y="63538"/>
                  </a:lnTo>
                  <a:lnTo>
                    <a:pt x="5201183" y="63538"/>
                  </a:lnTo>
                  <a:close/>
                  <a:moveTo>
                    <a:pt x="5393747" y="0"/>
                  </a:moveTo>
                  <a:lnTo>
                    <a:pt x="5476303" y="0"/>
                  </a:lnTo>
                  <a:lnTo>
                    <a:pt x="5476303" y="63538"/>
                  </a:lnTo>
                  <a:lnTo>
                    <a:pt x="5393747" y="63538"/>
                  </a:lnTo>
                  <a:close/>
                  <a:moveTo>
                    <a:pt x="5586413" y="63538"/>
                  </a:moveTo>
                  <a:lnTo>
                    <a:pt x="5668970" y="63538"/>
                  </a:lnTo>
                  <a:lnTo>
                    <a:pt x="5586413" y="63538"/>
                  </a:lnTo>
                  <a:close/>
                  <a:moveTo>
                    <a:pt x="5779081" y="63538"/>
                  </a:moveTo>
                  <a:lnTo>
                    <a:pt x="5861638" y="63538"/>
                  </a:lnTo>
                  <a:lnTo>
                    <a:pt x="5779081" y="63538"/>
                  </a:lnTo>
                  <a:close/>
                  <a:moveTo>
                    <a:pt x="5971645" y="0"/>
                  </a:moveTo>
                  <a:lnTo>
                    <a:pt x="6054201" y="0"/>
                  </a:lnTo>
                  <a:lnTo>
                    <a:pt x="6054201" y="63538"/>
                  </a:lnTo>
                  <a:lnTo>
                    <a:pt x="5971645" y="63538"/>
                  </a:lnTo>
                  <a:close/>
                  <a:moveTo>
                    <a:pt x="6164311" y="63538"/>
                  </a:moveTo>
                  <a:lnTo>
                    <a:pt x="6246868" y="63538"/>
                  </a:lnTo>
                  <a:lnTo>
                    <a:pt x="6164311" y="63538"/>
                  </a:lnTo>
                  <a:close/>
                  <a:moveTo>
                    <a:pt x="6356979" y="63538"/>
                  </a:moveTo>
                  <a:lnTo>
                    <a:pt x="6439535" y="63538"/>
                  </a:lnTo>
                  <a:lnTo>
                    <a:pt x="6356979" y="63538"/>
                  </a:lnTo>
                  <a:close/>
                  <a:moveTo>
                    <a:pt x="6549542" y="0"/>
                  </a:moveTo>
                  <a:lnTo>
                    <a:pt x="6632099" y="0"/>
                  </a:lnTo>
                  <a:lnTo>
                    <a:pt x="6632099" y="63538"/>
                  </a:lnTo>
                  <a:lnTo>
                    <a:pt x="6549542" y="63538"/>
                  </a:lnTo>
                  <a:close/>
                  <a:moveTo>
                    <a:pt x="6742209" y="63538"/>
                  </a:moveTo>
                  <a:lnTo>
                    <a:pt x="6824766" y="63538"/>
                  </a:lnTo>
                  <a:lnTo>
                    <a:pt x="6742209" y="63538"/>
                  </a:lnTo>
                  <a:close/>
                  <a:moveTo>
                    <a:pt x="6934876" y="63538"/>
                  </a:moveTo>
                  <a:lnTo>
                    <a:pt x="7017433" y="63538"/>
                  </a:lnTo>
                  <a:lnTo>
                    <a:pt x="6934876" y="63538"/>
                  </a:lnTo>
                  <a:close/>
                  <a:moveTo>
                    <a:pt x="7127440" y="0"/>
                  </a:moveTo>
                  <a:lnTo>
                    <a:pt x="7209997" y="0"/>
                  </a:lnTo>
                  <a:lnTo>
                    <a:pt x="7209997" y="63538"/>
                  </a:lnTo>
                  <a:lnTo>
                    <a:pt x="7127440" y="63538"/>
                  </a:lnTo>
                  <a:close/>
                  <a:moveTo>
                    <a:pt x="7320106" y="63538"/>
                  </a:moveTo>
                  <a:lnTo>
                    <a:pt x="7402663" y="63538"/>
                  </a:lnTo>
                  <a:lnTo>
                    <a:pt x="7320106" y="63538"/>
                  </a:lnTo>
                  <a:close/>
                  <a:moveTo>
                    <a:pt x="7512775" y="63538"/>
                  </a:moveTo>
                  <a:lnTo>
                    <a:pt x="7595331" y="63538"/>
                  </a:lnTo>
                  <a:lnTo>
                    <a:pt x="7512775" y="63538"/>
                  </a:lnTo>
                  <a:close/>
                  <a:moveTo>
                    <a:pt x="7705338" y="0"/>
                  </a:moveTo>
                  <a:lnTo>
                    <a:pt x="7787894" y="0"/>
                  </a:lnTo>
                  <a:lnTo>
                    <a:pt x="7787894" y="63538"/>
                  </a:lnTo>
                  <a:lnTo>
                    <a:pt x="7705338" y="63538"/>
                  </a:lnTo>
                  <a:close/>
                  <a:moveTo>
                    <a:pt x="7898004" y="63538"/>
                  </a:moveTo>
                  <a:lnTo>
                    <a:pt x="7980561" y="63538"/>
                  </a:lnTo>
                  <a:lnTo>
                    <a:pt x="7898004" y="63538"/>
                  </a:lnTo>
                  <a:close/>
                  <a:moveTo>
                    <a:pt x="8090672" y="63538"/>
                  </a:moveTo>
                  <a:lnTo>
                    <a:pt x="8173229" y="63538"/>
                  </a:lnTo>
                  <a:lnTo>
                    <a:pt x="8090672" y="63538"/>
                  </a:lnTo>
                  <a:close/>
                  <a:moveTo>
                    <a:pt x="8283235" y="0"/>
                  </a:moveTo>
                  <a:lnTo>
                    <a:pt x="8365792" y="0"/>
                  </a:lnTo>
                  <a:lnTo>
                    <a:pt x="8365792" y="63538"/>
                  </a:lnTo>
                  <a:lnTo>
                    <a:pt x="8283235" y="63538"/>
                  </a:lnTo>
                  <a:close/>
                  <a:moveTo>
                    <a:pt x="8475903" y="63538"/>
                  </a:moveTo>
                  <a:lnTo>
                    <a:pt x="8558459" y="63538"/>
                  </a:lnTo>
                  <a:lnTo>
                    <a:pt x="8475903" y="63538"/>
                  </a:lnTo>
                  <a:close/>
                  <a:moveTo>
                    <a:pt x="8668570" y="63538"/>
                  </a:moveTo>
                  <a:lnTo>
                    <a:pt x="8751127" y="63538"/>
                  </a:lnTo>
                  <a:lnTo>
                    <a:pt x="8668570" y="63538"/>
                  </a:lnTo>
                  <a:close/>
                  <a:moveTo>
                    <a:pt x="8861133" y="0"/>
                  </a:moveTo>
                  <a:lnTo>
                    <a:pt x="8943690" y="0"/>
                  </a:lnTo>
                  <a:lnTo>
                    <a:pt x="8943690" y="63538"/>
                  </a:lnTo>
                  <a:lnTo>
                    <a:pt x="8861133" y="63538"/>
                  </a:lnTo>
                  <a:close/>
                  <a:moveTo>
                    <a:pt x="9053800" y="63538"/>
                  </a:moveTo>
                  <a:lnTo>
                    <a:pt x="9136357" y="63538"/>
                  </a:lnTo>
                  <a:lnTo>
                    <a:pt x="9053800" y="63538"/>
                  </a:lnTo>
                  <a:close/>
                  <a:moveTo>
                    <a:pt x="9246467" y="63538"/>
                  </a:moveTo>
                  <a:lnTo>
                    <a:pt x="9329024" y="63538"/>
                  </a:lnTo>
                  <a:lnTo>
                    <a:pt x="9246467" y="63538"/>
                  </a:lnTo>
                  <a:close/>
                  <a:moveTo>
                    <a:pt x="9439031" y="0"/>
                  </a:moveTo>
                  <a:lnTo>
                    <a:pt x="9521588" y="0"/>
                  </a:lnTo>
                  <a:lnTo>
                    <a:pt x="9521588" y="63538"/>
                  </a:lnTo>
                  <a:lnTo>
                    <a:pt x="9439031" y="63538"/>
                  </a:lnTo>
                  <a:close/>
                  <a:moveTo>
                    <a:pt x="9631698" y="63538"/>
                  </a:moveTo>
                  <a:lnTo>
                    <a:pt x="9714255" y="63538"/>
                  </a:lnTo>
                  <a:lnTo>
                    <a:pt x="9631698" y="63538"/>
                  </a:lnTo>
                  <a:close/>
                  <a:moveTo>
                    <a:pt x="9824365" y="63538"/>
                  </a:moveTo>
                  <a:lnTo>
                    <a:pt x="9906922" y="63538"/>
                  </a:lnTo>
                  <a:lnTo>
                    <a:pt x="9824365" y="63538"/>
                  </a:lnTo>
                  <a:close/>
                  <a:moveTo>
                    <a:pt x="10016929" y="0"/>
                  </a:moveTo>
                  <a:lnTo>
                    <a:pt x="10099486" y="0"/>
                  </a:lnTo>
                  <a:lnTo>
                    <a:pt x="10099486" y="63538"/>
                  </a:lnTo>
                  <a:lnTo>
                    <a:pt x="10016929" y="63538"/>
                  </a:lnTo>
                  <a:close/>
                  <a:moveTo>
                    <a:pt x="10209595" y="63538"/>
                  </a:moveTo>
                  <a:lnTo>
                    <a:pt x="10292152" y="63538"/>
                  </a:lnTo>
                  <a:lnTo>
                    <a:pt x="10209595" y="63538"/>
                  </a:lnTo>
                  <a:close/>
                  <a:moveTo>
                    <a:pt x="10402263" y="63538"/>
                  </a:moveTo>
                  <a:lnTo>
                    <a:pt x="10484819" y="63538"/>
                  </a:lnTo>
                  <a:lnTo>
                    <a:pt x="10402263" y="63538"/>
                  </a:lnTo>
                  <a:close/>
                  <a:moveTo>
                    <a:pt x="10594827" y="0"/>
                  </a:moveTo>
                  <a:lnTo>
                    <a:pt x="10677383" y="0"/>
                  </a:lnTo>
                  <a:lnTo>
                    <a:pt x="10677383" y="63538"/>
                  </a:lnTo>
                  <a:lnTo>
                    <a:pt x="10594827" y="63538"/>
                  </a:lnTo>
                  <a:close/>
                  <a:moveTo>
                    <a:pt x="10787494" y="63538"/>
                  </a:moveTo>
                  <a:lnTo>
                    <a:pt x="10870051" y="63538"/>
                  </a:lnTo>
                  <a:lnTo>
                    <a:pt x="10787494" y="63538"/>
                  </a:lnTo>
                  <a:close/>
                  <a:moveTo>
                    <a:pt x="10980160" y="63538"/>
                  </a:moveTo>
                  <a:lnTo>
                    <a:pt x="11062717" y="63538"/>
                  </a:lnTo>
                  <a:lnTo>
                    <a:pt x="10980160" y="63538"/>
                  </a:lnTo>
                  <a:close/>
                  <a:moveTo>
                    <a:pt x="11172724" y="0"/>
                  </a:moveTo>
                  <a:lnTo>
                    <a:pt x="11255281" y="0"/>
                  </a:lnTo>
                  <a:lnTo>
                    <a:pt x="11255281" y="63538"/>
                  </a:lnTo>
                  <a:lnTo>
                    <a:pt x="11172724" y="63538"/>
                  </a:lnTo>
                  <a:close/>
                  <a:moveTo>
                    <a:pt x="11365391" y="63538"/>
                  </a:moveTo>
                  <a:lnTo>
                    <a:pt x="11447948" y="63538"/>
                  </a:lnTo>
                  <a:lnTo>
                    <a:pt x="11365391" y="63538"/>
                  </a:lnTo>
                  <a:close/>
                  <a:moveTo>
                    <a:pt x="11558058" y="63538"/>
                  </a:moveTo>
                  <a:lnTo>
                    <a:pt x="11640615" y="63538"/>
                  </a:lnTo>
                  <a:lnTo>
                    <a:pt x="11558058" y="63538"/>
                  </a:lnTo>
                  <a:close/>
                  <a:moveTo>
                    <a:pt x="11750622" y="0"/>
                  </a:moveTo>
                  <a:lnTo>
                    <a:pt x="11833179" y="0"/>
                  </a:lnTo>
                  <a:lnTo>
                    <a:pt x="11833179" y="63538"/>
                  </a:lnTo>
                  <a:lnTo>
                    <a:pt x="11750622" y="63538"/>
                  </a:lnTo>
                  <a:close/>
                  <a:moveTo>
                    <a:pt x="11943289" y="63538"/>
                  </a:moveTo>
                  <a:lnTo>
                    <a:pt x="12025846" y="63538"/>
                  </a:lnTo>
                  <a:lnTo>
                    <a:pt x="11943289" y="63538"/>
                  </a:lnTo>
                  <a:close/>
                  <a:moveTo>
                    <a:pt x="12135955" y="63538"/>
                  </a:moveTo>
                  <a:lnTo>
                    <a:pt x="12218512" y="63538"/>
                  </a:lnTo>
                  <a:lnTo>
                    <a:pt x="12135955" y="63538"/>
                  </a:lnTo>
                  <a:close/>
                  <a:moveTo>
                    <a:pt x="12328519" y="0"/>
                  </a:moveTo>
                  <a:lnTo>
                    <a:pt x="12411076" y="0"/>
                  </a:lnTo>
                  <a:lnTo>
                    <a:pt x="12411076" y="63538"/>
                  </a:lnTo>
                  <a:lnTo>
                    <a:pt x="12328519" y="63538"/>
                  </a:lnTo>
                  <a:close/>
                  <a:moveTo>
                    <a:pt x="12521187" y="63538"/>
                  </a:moveTo>
                  <a:lnTo>
                    <a:pt x="12603744" y="63538"/>
                  </a:lnTo>
                  <a:lnTo>
                    <a:pt x="12521187" y="63538"/>
                  </a:lnTo>
                  <a:close/>
                  <a:moveTo>
                    <a:pt x="12713853" y="63538"/>
                  </a:moveTo>
                  <a:lnTo>
                    <a:pt x="12796410" y="63538"/>
                  </a:lnTo>
                  <a:lnTo>
                    <a:pt x="12713853" y="63538"/>
                  </a:lnTo>
                  <a:close/>
                  <a:moveTo>
                    <a:pt x="12906417" y="0"/>
                  </a:moveTo>
                  <a:lnTo>
                    <a:pt x="12988974" y="0"/>
                  </a:lnTo>
                  <a:lnTo>
                    <a:pt x="12988974" y="63538"/>
                  </a:lnTo>
                  <a:lnTo>
                    <a:pt x="12906417" y="63538"/>
                  </a:lnTo>
                  <a:close/>
                  <a:moveTo>
                    <a:pt x="13099085" y="63538"/>
                  </a:moveTo>
                  <a:lnTo>
                    <a:pt x="13181642" y="63538"/>
                  </a:lnTo>
                  <a:lnTo>
                    <a:pt x="13099085" y="63538"/>
                  </a:lnTo>
                  <a:close/>
                  <a:moveTo>
                    <a:pt x="13291751" y="63538"/>
                  </a:moveTo>
                  <a:lnTo>
                    <a:pt x="13374307" y="63538"/>
                  </a:lnTo>
                  <a:lnTo>
                    <a:pt x="13291751" y="63538"/>
                  </a:lnTo>
                  <a:close/>
                  <a:moveTo>
                    <a:pt x="13484315" y="0"/>
                  </a:moveTo>
                  <a:lnTo>
                    <a:pt x="13566872" y="0"/>
                  </a:lnTo>
                  <a:lnTo>
                    <a:pt x="13566872" y="63538"/>
                  </a:lnTo>
                  <a:lnTo>
                    <a:pt x="13484315" y="63538"/>
                  </a:lnTo>
                  <a:close/>
                  <a:moveTo>
                    <a:pt x="13676982" y="63538"/>
                  </a:moveTo>
                  <a:lnTo>
                    <a:pt x="13759540" y="63538"/>
                  </a:lnTo>
                  <a:lnTo>
                    <a:pt x="13676982" y="63538"/>
                  </a:lnTo>
                  <a:close/>
                  <a:moveTo>
                    <a:pt x="13869649" y="63538"/>
                  </a:moveTo>
                  <a:lnTo>
                    <a:pt x="13952205" y="63538"/>
                  </a:lnTo>
                  <a:lnTo>
                    <a:pt x="13869649" y="63538"/>
                  </a:lnTo>
                  <a:close/>
                  <a:moveTo>
                    <a:pt x="14062213" y="0"/>
                  </a:moveTo>
                  <a:lnTo>
                    <a:pt x="14144769" y="0"/>
                  </a:lnTo>
                  <a:lnTo>
                    <a:pt x="14144769" y="63538"/>
                  </a:lnTo>
                  <a:lnTo>
                    <a:pt x="14062213" y="63538"/>
                  </a:lnTo>
                  <a:close/>
                  <a:moveTo>
                    <a:pt x="14254880" y="63538"/>
                  </a:moveTo>
                  <a:lnTo>
                    <a:pt x="14337438" y="63538"/>
                  </a:lnTo>
                  <a:lnTo>
                    <a:pt x="14254880" y="63538"/>
                  </a:lnTo>
                  <a:close/>
                  <a:moveTo>
                    <a:pt x="14447546" y="63538"/>
                  </a:moveTo>
                  <a:lnTo>
                    <a:pt x="14530104" y="63538"/>
                  </a:lnTo>
                  <a:lnTo>
                    <a:pt x="14447546" y="63538"/>
                  </a:lnTo>
                  <a:close/>
                  <a:moveTo>
                    <a:pt x="14640111" y="0"/>
                  </a:moveTo>
                  <a:lnTo>
                    <a:pt x="14722667" y="0"/>
                  </a:lnTo>
                  <a:lnTo>
                    <a:pt x="14722667" y="63538"/>
                  </a:lnTo>
                  <a:lnTo>
                    <a:pt x="14640111" y="63538"/>
                  </a:lnTo>
                  <a:close/>
                  <a:moveTo>
                    <a:pt x="14832778" y="63538"/>
                  </a:moveTo>
                  <a:lnTo>
                    <a:pt x="14915334" y="63538"/>
                  </a:lnTo>
                  <a:lnTo>
                    <a:pt x="14832778" y="63538"/>
                  </a:lnTo>
                  <a:close/>
                  <a:moveTo>
                    <a:pt x="15025444" y="63538"/>
                  </a:moveTo>
                  <a:lnTo>
                    <a:pt x="15108002" y="63538"/>
                  </a:lnTo>
                  <a:lnTo>
                    <a:pt x="15025444" y="63538"/>
                  </a:lnTo>
                  <a:close/>
                  <a:moveTo>
                    <a:pt x="15218009" y="0"/>
                  </a:moveTo>
                  <a:lnTo>
                    <a:pt x="15300565" y="0"/>
                  </a:lnTo>
                  <a:lnTo>
                    <a:pt x="15300565" y="63538"/>
                  </a:lnTo>
                  <a:lnTo>
                    <a:pt x="15218009" y="63538"/>
                  </a:lnTo>
                  <a:close/>
                  <a:moveTo>
                    <a:pt x="0" y="0"/>
                  </a:moveTo>
                  <a:lnTo>
                    <a:pt x="82557" y="0"/>
                  </a:lnTo>
                  <a:lnTo>
                    <a:pt x="82557" y="63538"/>
                  </a:lnTo>
                  <a:lnTo>
                    <a:pt x="0" y="63538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632197" y="5599428"/>
            <a:ext cx="25403" cy="939803"/>
            <a:chOff x="0" y="0"/>
            <a:chExt cx="33871" cy="12530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16891"/>
              <a:ext cx="33909" cy="1219200"/>
            </a:xfrm>
            <a:custGeom>
              <a:avLst/>
              <a:gdLst/>
              <a:ahLst/>
              <a:cxnLst/>
              <a:rect r="r" b="b" t="t" l="l"/>
              <a:pathLst>
                <a:path h="1219200" w="33909">
                  <a:moveTo>
                    <a:pt x="33909" y="0"/>
                  </a:moveTo>
                  <a:lnTo>
                    <a:pt x="33909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569332" y="6551928"/>
            <a:ext cx="10972800" cy="640080"/>
            <a:chOff x="0" y="0"/>
            <a:chExt cx="14630400" cy="8534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0" cy="853440"/>
            </a:xfrm>
            <a:custGeom>
              <a:avLst/>
              <a:gdLst/>
              <a:ahLst/>
              <a:cxnLst/>
              <a:rect r="r" b="b" t="t" l="l"/>
              <a:pathLst>
                <a:path h="8534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46304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↑  Loop back to Main Menu (ENTER to continue)  ↑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7459351"/>
            <a:ext cx="16459200" cy="457200"/>
            <a:chOff x="0" y="0"/>
            <a:chExt cx="2194560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D9D9D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6 CALCULATOR SEGMENTS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21357" y="7997828"/>
            <a:ext cx="2580637" cy="1117597"/>
            <a:chOff x="0" y="0"/>
            <a:chExt cx="3440849" cy="14901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31520" y="8007991"/>
            <a:ext cx="2560320" cy="1097280"/>
            <a:chOff x="0" y="0"/>
            <a:chExt cx="3413760" cy="1463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Arithmetic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555997" y="7997828"/>
            <a:ext cx="2580637" cy="1117597"/>
            <a:chOff x="0" y="0"/>
            <a:chExt cx="3440849" cy="14901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F9CF9">
                <a:alpha val="3922"/>
              </a:srgbClr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566160" y="8007991"/>
            <a:ext cx="2560320" cy="1097280"/>
            <a:chOff x="0" y="0"/>
            <a:chExt cx="3413760" cy="1463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Trigonometry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390637" y="7997828"/>
            <a:ext cx="2580637" cy="1117597"/>
            <a:chOff x="0" y="0"/>
            <a:chExt cx="3440849" cy="149012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F78166">
                <a:alpha val="3922"/>
              </a:srgbClr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400800" y="8007991"/>
            <a:ext cx="2560320" cy="1097280"/>
            <a:chOff x="0" y="0"/>
            <a:chExt cx="3413760" cy="1463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Logarithm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25277" y="7997828"/>
            <a:ext cx="2580637" cy="1117597"/>
            <a:chOff x="0" y="0"/>
            <a:chExt cx="3440849" cy="149012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A371F7">
                <a:alpha val="3922"/>
              </a:srgbClr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235440" y="8007991"/>
            <a:ext cx="2560320" cy="1097280"/>
            <a:chOff x="0" y="0"/>
            <a:chExt cx="3413760" cy="14630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Power &amp; Root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059917" y="7997828"/>
            <a:ext cx="2580637" cy="1117597"/>
            <a:chOff x="0" y="0"/>
            <a:chExt cx="3440849" cy="149012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00D4AA">
                <a:alpha val="3922"/>
              </a:srgbClr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070080" y="8007991"/>
            <a:ext cx="2560320" cy="1097280"/>
            <a:chOff x="0" y="0"/>
            <a:chExt cx="3413760" cy="14630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Factorials &amp; Comb.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894557" y="7997828"/>
            <a:ext cx="2580637" cy="1117597"/>
            <a:chOff x="0" y="0"/>
            <a:chExt cx="3440849" cy="149012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13589" y="13589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F9CF9">
                <a:alpha val="3922"/>
              </a:srgbClr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440938" cy="1490218"/>
            </a:xfrm>
            <a:custGeom>
              <a:avLst/>
              <a:gdLst/>
              <a:ahLst/>
              <a:cxnLst/>
              <a:rect r="r" b="b" t="t" l="l"/>
              <a:pathLst>
                <a:path h="1490218" w="3440938">
                  <a:moveTo>
                    <a:pt x="13589" y="0"/>
                  </a:moveTo>
                  <a:lnTo>
                    <a:pt x="3427349" y="0"/>
                  </a:lnTo>
                  <a:cubicBezTo>
                    <a:pt x="3434842" y="0"/>
                    <a:pt x="3440938" y="6096"/>
                    <a:pt x="3440938" y="13589"/>
                  </a:cubicBezTo>
                  <a:lnTo>
                    <a:pt x="3440938" y="1476629"/>
                  </a:lnTo>
                  <a:cubicBezTo>
                    <a:pt x="3440938" y="1484122"/>
                    <a:pt x="3434842" y="1490218"/>
                    <a:pt x="3427349" y="1490218"/>
                  </a:cubicBezTo>
                  <a:lnTo>
                    <a:pt x="13589" y="1490218"/>
                  </a:lnTo>
                  <a:cubicBezTo>
                    <a:pt x="6096" y="1490218"/>
                    <a:pt x="0" y="1484122"/>
                    <a:pt x="0" y="14766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1476629"/>
                  </a:lnTo>
                  <a:lnTo>
                    <a:pt x="13589" y="1476629"/>
                  </a:lnTo>
                  <a:lnTo>
                    <a:pt x="13589" y="1463040"/>
                  </a:lnTo>
                  <a:lnTo>
                    <a:pt x="3427349" y="1463040"/>
                  </a:lnTo>
                  <a:lnTo>
                    <a:pt x="3427349" y="1476629"/>
                  </a:lnTo>
                  <a:lnTo>
                    <a:pt x="3413760" y="1476629"/>
                  </a:lnTo>
                  <a:lnTo>
                    <a:pt x="3413760" y="13589"/>
                  </a:lnTo>
                  <a:lnTo>
                    <a:pt x="3427349" y="13589"/>
                  </a:lnTo>
                  <a:lnTo>
                    <a:pt x="342734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904720" y="8007991"/>
            <a:ext cx="2560320" cy="1097280"/>
            <a:chOff x="0" y="0"/>
            <a:chExt cx="3413760" cy="14630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4137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 Matrix Ops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617703" y="4010663"/>
            <a:ext cx="25403" cy="25403"/>
            <a:chOff x="0" y="0"/>
            <a:chExt cx="33871" cy="3387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0" cy="0"/>
            </a:xfrm>
            <a:custGeom>
              <a:avLst/>
              <a:gdLst/>
              <a:ahLst/>
              <a:cxnLst/>
              <a:rect r="r" b="b" t="t" l="l"/>
              <a:pathLst>
                <a:path h="0" w="0"/>
              </a:pathLst>
            </a:custGeom>
            <a:solidFill>
              <a:srgbClr val="0D1117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6891" y="0"/>
              <a:ext cx="0" cy="16891"/>
            </a:xfrm>
            <a:custGeom>
              <a:avLst/>
              <a:gdLst/>
              <a:ahLst/>
              <a:cxnLst/>
              <a:rect r="r" b="b" t="t" l="l"/>
              <a:pathLst>
                <a:path h="16891" w="0">
                  <a:moveTo>
                    <a:pt x="0" y="0"/>
                  </a:moveTo>
                  <a:lnTo>
                    <a:pt x="0" y="16891"/>
                  </a:lnTo>
                  <a:lnTo>
                    <a:pt x="0" y="0"/>
                  </a:lnTo>
                </a:path>
              </a:pathLst>
            </a:custGeom>
            <a:solidFill>
              <a:srgbClr val="0D1117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2354554" y="2133600"/>
            <a:ext cx="5120640" cy="822960"/>
            <a:chOff x="0" y="0"/>
            <a:chExt cx="6827520" cy="10972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  <a:ln w="66675" cap="sq">
              <a:gradFill>
                <a:gsLst>
                  <a:gs pos="0">
                    <a:srgbClr val="FF7C90">
                      <a:alpha val="100000"/>
                    </a:srgbClr>
                  </a:gs>
                  <a:gs pos="100000">
                    <a:srgbClr val="FFE1A4">
                      <a:alpha val="100000"/>
                    </a:srgbClr>
                  </a:gs>
                </a:gsLst>
                <a:lin ang="0"/>
              </a:gradFill>
              <a:prstDash val="lgDash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76200"/>
              <a:ext cx="68275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39"/>
                </a:lnSpc>
              </a:pPr>
              <a:r>
                <a:rPr lang="en-US" sz="3199" i="true">
                  <a:solidFill>
                    <a:srgbClr val="FF979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Option 0 → Exit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970757" y="2956560"/>
            <a:ext cx="25403" cy="939803"/>
            <a:chOff x="0" y="0"/>
            <a:chExt cx="33871" cy="125307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16891"/>
              <a:ext cx="33909" cy="1219200"/>
            </a:xfrm>
            <a:custGeom>
              <a:avLst/>
              <a:gdLst/>
              <a:ahLst/>
              <a:cxnLst/>
              <a:rect r="r" b="b" t="t" l="l"/>
              <a:pathLst>
                <a:path h="1219200" w="33909">
                  <a:moveTo>
                    <a:pt x="33909" y="0"/>
                  </a:moveTo>
                  <a:lnTo>
                    <a:pt x="33909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949E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0972800" cy="914400"/>
            <a:chOff x="0" y="0"/>
            <a:chExt cx="146304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46304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Arithmetic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0" y="113385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K.M. Mohib Newaz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0" y="274320"/>
            <a:ext cx="5120640" cy="1097280"/>
            <a:chOff x="0" y="0"/>
            <a:chExt cx="68275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68275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( + − × / % 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279647"/>
            <a:ext cx="8425177" cy="2207257"/>
            <a:chOff x="0" y="0"/>
            <a:chExt cx="11233569" cy="29430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33658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934589"/>
                  </a:lnTo>
                  <a:cubicBezTo>
                    <a:pt x="11233658" y="2939288"/>
                    <a:pt x="11229848" y="2943098"/>
                    <a:pt x="11225149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25149" y="2926080"/>
                  </a:lnTo>
                  <a:lnTo>
                    <a:pt x="11225149" y="2934589"/>
                  </a:lnTo>
                  <a:lnTo>
                    <a:pt x="11216640" y="293458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286000"/>
            <a:ext cx="109728" cy="2194560"/>
            <a:chOff x="0" y="0"/>
            <a:chExt cx="146304" cy="2926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2505456"/>
            <a:ext cx="5120640" cy="694944"/>
            <a:chOff x="0" y="0"/>
            <a:chExt cx="682752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Addition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211567" y="2499103"/>
            <a:ext cx="2573017" cy="652777"/>
            <a:chOff x="0" y="0"/>
            <a:chExt cx="3430689" cy="8703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0D4AA">
                <a:alpha val="15686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30778" cy="870458"/>
            </a:xfrm>
            <a:custGeom>
              <a:avLst/>
              <a:gdLst/>
              <a:ahLst/>
              <a:cxnLst/>
              <a:rect r="r" b="b" t="t" l="l"/>
              <a:pathLst>
                <a:path h="87045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861949"/>
                  </a:lnTo>
                  <a:cubicBezTo>
                    <a:pt x="3430778" y="866648"/>
                    <a:pt x="3426968" y="870458"/>
                    <a:pt x="34222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422269" y="853440"/>
                  </a:lnTo>
                  <a:lnTo>
                    <a:pt x="3422269" y="861949"/>
                  </a:lnTo>
                  <a:lnTo>
                    <a:pt x="3413760" y="86194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217920" y="2505456"/>
            <a:ext cx="2560320" cy="640080"/>
            <a:chOff x="0" y="0"/>
            <a:chExt cx="3413760" cy="853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413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 + b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280" y="3291840"/>
            <a:ext cx="7863840" cy="1005840"/>
            <a:chOff x="0" y="0"/>
            <a:chExt cx="1048512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485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doubles; result to 4 decimal places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25167" y="4785103"/>
            <a:ext cx="8425177" cy="2207257"/>
            <a:chOff x="0" y="0"/>
            <a:chExt cx="11233569" cy="29430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33658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934589"/>
                  </a:lnTo>
                  <a:cubicBezTo>
                    <a:pt x="11233658" y="2939288"/>
                    <a:pt x="11229848" y="2943098"/>
                    <a:pt x="11225149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25149" y="2926080"/>
                  </a:lnTo>
                  <a:lnTo>
                    <a:pt x="11225149" y="2934589"/>
                  </a:lnTo>
                  <a:lnTo>
                    <a:pt x="11216640" y="293458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1520" y="4791456"/>
            <a:ext cx="109728" cy="2194560"/>
            <a:chOff x="0" y="0"/>
            <a:chExt cx="146304" cy="292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5010912"/>
            <a:ext cx="5120640" cy="694944"/>
            <a:chOff x="0" y="0"/>
            <a:chExt cx="6827520" cy="9265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Subtraction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11567" y="5004559"/>
            <a:ext cx="2573017" cy="652777"/>
            <a:chOff x="0" y="0"/>
            <a:chExt cx="3430689" cy="8703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4F9CF9">
                <a:alpha val="15686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30778" cy="870458"/>
            </a:xfrm>
            <a:custGeom>
              <a:avLst/>
              <a:gdLst/>
              <a:ahLst/>
              <a:cxnLst/>
              <a:rect r="r" b="b" t="t" l="l"/>
              <a:pathLst>
                <a:path h="87045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861949"/>
                  </a:lnTo>
                  <a:cubicBezTo>
                    <a:pt x="3430778" y="866648"/>
                    <a:pt x="3426968" y="870458"/>
                    <a:pt x="34222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422269" y="853440"/>
                  </a:lnTo>
                  <a:lnTo>
                    <a:pt x="3422269" y="861949"/>
                  </a:lnTo>
                  <a:lnTo>
                    <a:pt x="3413760" y="86194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217920" y="5010912"/>
            <a:ext cx="2560320" cy="640080"/>
            <a:chOff x="0" y="0"/>
            <a:chExt cx="34137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3413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 − 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97280" y="5797296"/>
            <a:ext cx="7863840" cy="1005840"/>
            <a:chOff x="0" y="0"/>
            <a:chExt cx="1048512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0485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doubles; formatted with %.4lf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5167" y="7290559"/>
            <a:ext cx="8425177" cy="2207257"/>
            <a:chOff x="0" y="0"/>
            <a:chExt cx="11233569" cy="29430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112166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233658" cy="2943098"/>
            </a:xfrm>
            <a:custGeom>
              <a:avLst/>
              <a:gdLst/>
              <a:ahLst/>
              <a:cxnLst/>
              <a:rect r="r" b="b" t="t" l="l"/>
              <a:pathLst>
                <a:path h="2943098" w="11233658">
                  <a:moveTo>
                    <a:pt x="8509" y="0"/>
                  </a:moveTo>
                  <a:lnTo>
                    <a:pt x="11225149" y="0"/>
                  </a:lnTo>
                  <a:cubicBezTo>
                    <a:pt x="11229848" y="0"/>
                    <a:pt x="11233658" y="3810"/>
                    <a:pt x="11233658" y="8509"/>
                  </a:cubicBezTo>
                  <a:lnTo>
                    <a:pt x="11233658" y="2934589"/>
                  </a:lnTo>
                  <a:cubicBezTo>
                    <a:pt x="11233658" y="2939288"/>
                    <a:pt x="11229848" y="2943098"/>
                    <a:pt x="11225149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1225149" y="2926080"/>
                  </a:lnTo>
                  <a:lnTo>
                    <a:pt x="11225149" y="2934589"/>
                  </a:lnTo>
                  <a:lnTo>
                    <a:pt x="11216640" y="2934589"/>
                  </a:lnTo>
                  <a:lnTo>
                    <a:pt x="11216640" y="8509"/>
                  </a:lnTo>
                  <a:lnTo>
                    <a:pt x="11225149" y="8509"/>
                  </a:lnTo>
                  <a:lnTo>
                    <a:pt x="112251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731520" y="7296912"/>
            <a:ext cx="109728" cy="2194560"/>
            <a:chOff x="0" y="0"/>
            <a:chExt cx="146304" cy="2926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97280" y="7516368"/>
            <a:ext cx="5120640" cy="694944"/>
            <a:chOff x="0" y="0"/>
            <a:chExt cx="6827520" cy="9265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68275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Multiplication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211567" y="7510015"/>
            <a:ext cx="2573017" cy="652777"/>
            <a:chOff x="0" y="0"/>
            <a:chExt cx="3430689" cy="87036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F78166">
                <a:alpha val="15686"/>
              </a:srgbClr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30778" cy="870458"/>
            </a:xfrm>
            <a:custGeom>
              <a:avLst/>
              <a:gdLst/>
              <a:ahLst/>
              <a:cxnLst/>
              <a:rect r="r" b="b" t="t" l="l"/>
              <a:pathLst>
                <a:path h="87045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861949"/>
                  </a:lnTo>
                  <a:cubicBezTo>
                    <a:pt x="3430778" y="866648"/>
                    <a:pt x="3426968" y="870458"/>
                    <a:pt x="34222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422269" y="853440"/>
                  </a:lnTo>
                  <a:lnTo>
                    <a:pt x="3422269" y="861949"/>
                  </a:lnTo>
                  <a:lnTo>
                    <a:pt x="3413760" y="86194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217920" y="7516368"/>
            <a:ext cx="2560320" cy="640080"/>
            <a:chOff x="0" y="0"/>
            <a:chExt cx="341376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3413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 × b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97280" y="8302752"/>
            <a:ext cx="7863840" cy="1005840"/>
            <a:chOff x="0" y="0"/>
            <a:chExt cx="10485120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485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37" r="0" b="-10233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10485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Double-precision floating-point multiplication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77727" y="2279647"/>
            <a:ext cx="7785097" cy="2207257"/>
            <a:chOff x="0" y="0"/>
            <a:chExt cx="10380129" cy="294300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10363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380218" cy="2943098"/>
            </a:xfrm>
            <a:custGeom>
              <a:avLst/>
              <a:gdLst/>
              <a:ahLst/>
              <a:cxnLst/>
              <a:rect r="r" b="b" t="t" l="l"/>
              <a:pathLst>
                <a:path h="2943098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2934589"/>
                  </a:lnTo>
                  <a:cubicBezTo>
                    <a:pt x="10380218" y="2939288"/>
                    <a:pt x="10376408" y="2943098"/>
                    <a:pt x="10371709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0371709" y="2926080"/>
                  </a:lnTo>
                  <a:lnTo>
                    <a:pt x="10371709" y="2934589"/>
                  </a:lnTo>
                  <a:lnTo>
                    <a:pt x="10363200" y="2934589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784080" y="2286000"/>
            <a:ext cx="109728" cy="2194560"/>
            <a:chOff x="0" y="0"/>
            <a:chExt cx="146304" cy="29260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149840" y="2505456"/>
            <a:ext cx="4480560" cy="694944"/>
            <a:chOff x="0" y="0"/>
            <a:chExt cx="597408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974080" cy="926592"/>
            </a:xfrm>
            <a:custGeom>
              <a:avLst/>
              <a:gdLst/>
              <a:ahLst/>
              <a:cxnLst/>
              <a:rect r="r" b="b" t="t" l="l"/>
              <a:pathLst>
                <a:path h="9265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27" r="0" b="-7562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5974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Division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4624047" y="2499103"/>
            <a:ext cx="2573017" cy="652777"/>
            <a:chOff x="0" y="0"/>
            <a:chExt cx="3430689" cy="87036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A371F7">
                <a:alpha val="15686"/>
              </a:srgbClr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30778" cy="870458"/>
            </a:xfrm>
            <a:custGeom>
              <a:avLst/>
              <a:gdLst/>
              <a:ahLst/>
              <a:cxnLst/>
              <a:rect r="r" b="b" t="t" l="l"/>
              <a:pathLst>
                <a:path h="87045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861949"/>
                  </a:lnTo>
                  <a:cubicBezTo>
                    <a:pt x="3430778" y="866648"/>
                    <a:pt x="3426968" y="870458"/>
                    <a:pt x="34222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422269" y="853440"/>
                  </a:lnTo>
                  <a:lnTo>
                    <a:pt x="3422269" y="861949"/>
                  </a:lnTo>
                  <a:lnTo>
                    <a:pt x="3413760" y="86194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4630400" y="2505456"/>
            <a:ext cx="2560320" cy="640080"/>
            <a:chOff x="0" y="0"/>
            <a:chExt cx="3413760" cy="8534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3413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 / b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149840" y="3291840"/>
            <a:ext cx="7223760" cy="1005840"/>
            <a:chOff x="0" y="0"/>
            <a:chExt cx="9631680" cy="13411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631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38" r="0" b="-8993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96316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b ≠ 0 before computing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777727" y="4785103"/>
            <a:ext cx="7785097" cy="2207257"/>
            <a:chOff x="0" y="0"/>
            <a:chExt cx="10380129" cy="294300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10363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380218" cy="2943098"/>
            </a:xfrm>
            <a:custGeom>
              <a:avLst/>
              <a:gdLst/>
              <a:ahLst/>
              <a:cxnLst/>
              <a:rect r="r" b="b" t="t" l="l"/>
              <a:pathLst>
                <a:path h="2943098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2934589"/>
                  </a:lnTo>
                  <a:cubicBezTo>
                    <a:pt x="10380218" y="2939288"/>
                    <a:pt x="10376408" y="2943098"/>
                    <a:pt x="10371709" y="2943098"/>
                  </a:cubicBezTo>
                  <a:lnTo>
                    <a:pt x="8509" y="2943098"/>
                  </a:lnTo>
                  <a:cubicBezTo>
                    <a:pt x="3810" y="2943098"/>
                    <a:pt x="0" y="2939288"/>
                    <a:pt x="0" y="29345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934589"/>
                  </a:lnTo>
                  <a:lnTo>
                    <a:pt x="8509" y="2934589"/>
                  </a:lnTo>
                  <a:lnTo>
                    <a:pt x="8509" y="2926080"/>
                  </a:lnTo>
                  <a:lnTo>
                    <a:pt x="10371709" y="2926080"/>
                  </a:lnTo>
                  <a:lnTo>
                    <a:pt x="10371709" y="2934589"/>
                  </a:lnTo>
                  <a:lnTo>
                    <a:pt x="10363200" y="2934589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784080" y="4791456"/>
            <a:ext cx="109728" cy="2194560"/>
            <a:chOff x="0" y="0"/>
            <a:chExt cx="146304" cy="29260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149840" y="5010912"/>
            <a:ext cx="4480560" cy="694944"/>
            <a:chOff x="0" y="0"/>
            <a:chExt cx="59740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974080" cy="926592"/>
            </a:xfrm>
            <a:custGeom>
              <a:avLst/>
              <a:gdLst/>
              <a:ahLst/>
              <a:cxnLst/>
              <a:rect r="r" b="b" t="t" l="l"/>
              <a:pathLst>
                <a:path h="926592" w="5974080">
                  <a:moveTo>
                    <a:pt x="0" y="0"/>
                  </a:moveTo>
                  <a:lnTo>
                    <a:pt x="5974080" y="0"/>
                  </a:lnTo>
                  <a:lnTo>
                    <a:pt x="59740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27" r="0" b="-7562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57150"/>
              <a:ext cx="59740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Modulus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624047" y="5004559"/>
            <a:ext cx="2573017" cy="652777"/>
            <a:chOff x="0" y="0"/>
            <a:chExt cx="3430689" cy="87036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8509" y="8509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00D4AA">
                <a:alpha val="15686"/>
              </a:srgbClr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430778" cy="870458"/>
            </a:xfrm>
            <a:custGeom>
              <a:avLst/>
              <a:gdLst/>
              <a:ahLst/>
              <a:cxnLst/>
              <a:rect r="r" b="b" t="t" l="l"/>
              <a:pathLst>
                <a:path h="870458" w="3430778">
                  <a:moveTo>
                    <a:pt x="8509" y="0"/>
                  </a:moveTo>
                  <a:lnTo>
                    <a:pt x="3422269" y="0"/>
                  </a:lnTo>
                  <a:cubicBezTo>
                    <a:pt x="3426968" y="0"/>
                    <a:pt x="3430778" y="3810"/>
                    <a:pt x="3430778" y="8509"/>
                  </a:cubicBezTo>
                  <a:lnTo>
                    <a:pt x="3430778" y="861949"/>
                  </a:lnTo>
                  <a:cubicBezTo>
                    <a:pt x="3430778" y="866648"/>
                    <a:pt x="3426968" y="870458"/>
                    <a:pt x="3422269" y="870458"/>
                  </a:cubicBezTo>
                  <a:lnTo>
                    <a:pt x="8509" y="870458"/>
                  </a:lnTo>
                  <a:cubicBezTo>
                    <a:pt x="3810" y="870458"/>
                    <a:pt x="0" y="866648"/>
                    <a:pt x="0" y="8619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61949"/>
                  </a:lnTo>
                  <a:lnTo>
                    <a:pt x="8509" y="861949"/>
                  </a:lnTo>
                  <a:lnTo>
                    <a:pt x="8509" y="853440"/>
                  </a:lnTo>
                  <a:lnTo>
                    <a:pt x="3422269" y="853440"/>
                  </a:lnTo>
                  <a:lnTo>
                    <a:pt x="3422269" y="861949"/>
                  </a:lnTo>
                  <a:lnTo>
                    <a:pt x="3413760" y="861949"/>
                  </a:lnTo>
                  <a:lnTo>
                    <a:pt x="3413760" y="8509"/>
                  </a:lnTo>
                  <a:lnTo>
                    <a:pt x="3422269" y="8509"/>
                  </a:lnTo>
                  <a:lnTo>
                    <a:pt x="3422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630400" y="5010912"/>
            <a:ext cx="2560320" cy="640080"/>
            <a:chOff x="0" y="0"/>
            <a:chExt cx="3413760" cy="8534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413760" cy="853440"/>
            </a:xfrm>
            <a:custGeom>
              <a:avLst/>
              <a:gdLst/>
              <a:ahLst/>
              <a:cxnLst/>
              <a:rect r="r" b="b" t="t" l="l"/>
              <a:pathLst>
                <a:path h="8534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3413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 % b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149840" y="5797296"/>
            <a:ext cx="7223760" cy="1005840"/>
            <a:chOff x="0" y="0"/>
            <a:chExt cx="9631680" cy="13411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631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38" r="0" b="-8993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96316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Integers only; checks ib ≠ 0 (%d format)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773917" y="7305037"/>
            <a:ext cx="7792717" cy="2489197"/>
            <a:chOff x="0" y="0"/>
            <a:chExt cx="10390289" cy="331892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3589" y="13589"/>
              <a:ext cx="10363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390378" cy="3319018"/>
            </a:xfrm>
            <a:custGeom>
              <a:avLst/>
              <a:gdLst/>
              <a:ahLst/>
              <a:cxnLst/>
              <a:rect r="r" b="b" t="t" l="l"/>
              <a:pathLst>
                <a:path h="3319018" w="10390378">
                  <a:moveTo>
                    <a:pt x="13589" y="0"/>
                  </a:moveTo>
                  <a:lnTo>
                    <a:pt x="10376789" y="0"/>
                  </a:lnTo>
                  <a:cubicBezTo>
                    <a:pt x="10384282" y="0"/>
                    <a:pt x="10390378" y="6096"/>
                    <a:pt x="10390378" y="13589"/>
                  </a:cubicBezTo>
                  <a:lnTo>
                    <a:pt x="10390378" y="3305429"/>
                  </a:lnTo>
                  <a:cubicBezTo>
                    <a:pt x="10390378" y="3312922"/>
                    <a:pt x="10384282" y="3319018"/>
                    <a:pt x="10376789" y="3319018"/>
                  </a:cubicBezTo>
                  <a:lnTo>
                    <a:pt x="13589" y="3319018"/>
                  </a:lnTo>
                  <a:cubicBezTo>
                    <a:pt x="6096" y="3319018"/>
                    <a:pt x="0" y="3312922"/>
                    <a:pt x="0" y="3305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305429"/>
                  </a:lnTo>
                  <a:lnTo>
                    <a:pt x="13589" y="3305429"/>
                  </a:lnTo>
                  <a:lnTo>
                    <a:pt x="13589" y="3291840"/>
                  </a:lnTo>
                  <a:lnTo>
                    <a:pt x="10376789" y="3291840"/>
                  </a:lnTo>
                  <a:lnTo>
                    <a:pt x="10376789" y="3305429"/>
                  </a:lnTo>
                  <a:lnTo>
                    <a:pt x="10363200" y="3305429"/>
                  </a:lnTo>
                  <a:lnTo>
                    <a:pt x="10363200" y="13589"/>
                  </a:lnTo>
                  <a:lnTo>
                    <a:pt x="10376789" y="13589"/>
                  </a:lnTo>
                  <a:lnTo>
                    <a:pt x="10376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058400" y="7498080"/>
            <a:ext cx="7132320" cy="640080"/>
            <a:chOff x="0" y="0"/>
            <a:chExt cx="9509760" cy="8534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⚠  Error Handling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058400" y="8138160"/>
            <a:ext cx="7132320" cy="1463040"/>
            <a:chOff x="0" y="0"/>
            <a:chExt cx="9509760" cy="19507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9509760" cy="2007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Division by zero → error message, no crash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Modulus by zero → checked before % operator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Invalid menu choice → graceful return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1887200" cy="914400"/>
            <a:chOff x="0" y="0"/>
            <a:chExt cx="15849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58496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Trigonometric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83664" y="115290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Usayed Bin Gias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0" y="274320"/>
            <a:ext cx="5120640" cy="1097280"/>
            <a:chOff x="0" y="0"/>
            <a:chExt cx="68275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68275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sin  cos  tan  arc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188207"/>
            <a:ext cx="16837657" cy="1567177"/>
            <a:chOff x="0" y="0"/>
            <a:chExt cx="22450209" cy="20895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22433281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1">
                  <a:moveTo>
                    <a:pt x="0" y="0"/>
                  </a:moveTo>
                  <a:lnTo>
                    <a:pt x="22433281" y="0"/>
                  </a:lnTo>
                  <a:lnTo>
                    <a:pt x="22433281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450298" cy="2089658"/>
            </a:xfrm>
            <a:custGeom>
              <a:avLst/>
              <a:gdLst/>
              <a:ahLst/>
              <a:cxnLst/>
              <a:rect r="r" b="b" t="t" l="l"/>
              <a:pathLst>
                <a:path h="2089658" w="2245029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2081149"/>
                  </a:lnTo>
                  <a:cubicBezTo>
                    <a:pt x="22450298" y="2085848"/>
                    <a:pt x="22446489" y="2089658"/>
                    <a:pt x="22441790" y="2089658"/>
                  </a:cubicBezTo>
                  <a:lnTo>
                    <a:pt x="8509" y="2089658"/>
                  </a:lnTo>
                  <a:cubicBezTo>
                    <a:pt x="3810" y="2089658"/>
                    <a:pt x="0" y="2085848"/>
                    <a:pt x="0" y="20811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081149"/>
                  </a:lnTo>
                  <a:lnTo>
                    <a:pt x="8509" y="2081149"/>
                  </a:lnTo>
                  <a:lnTo>
                    <a:pt x="8509" y="2072640"/>
                  </a:lnTo>
                  <a:lnTo>
                    <a:pt x="22441790" y="2072640"/>
                  </a:lnTo>
                  <a:lnTo>
                    <a:pt x="22441790" y="2081149"/>
                  </a:lnTo>
                  <a:lnTo>
                    <a:pt x="22433280" y="208114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194560"/>
            <a:ext cx="109728" cy="1554480"/>
            <a:chOff x="0" y="0"/>
            <a:chExt cx="146304" cy="2072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" cy="2072640"/>
            </a:xfrm>
            <a:custGeom>
              <a:avLst/>
              <a:gdLst/>
              <a:ahLst/>
              <a:cxnLst/>
              <a:rect r="r" b="b" t="t" l="l"/>
              <a:pathLst>
                <a:path h="20726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20" y="2206609"/>
            <a:ext cx="8229600" cy="640080"/>
            <a:chOff x="0" y="0"/>
            <a:chExt cx="1097280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9728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Degree ↔ Radian Conversion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" y="2772802"/>
            <a:ext cx="15910560" cy="976238"/>
            <a:chOff x="0" y="0"/>
            <a:chExt cx="21214080" cy="13016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14080" cy="1301650"/>
            </a:xfrm>
            <a:custGeom>
              <a:avLst/>
              <a:gdLst/>
              <a:ahLst/>
              <a:cxnLst/>
              <a:rect r="r" b="b" t="t" l="l"/>
              <a:pathLst>
                <a:path h="130165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780" r="0" b="-2503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121408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enters degrees → converted to radians via DEG_TO_RAD(x) before computation. Results converted back with RAD_TO_DEG where needed.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25167" y="4121782"/>
            <a:ext cx="5407657" cy="2536441"/>
            <a:chOff x="0" y="0"/>
            <a:chExt cx="7210209" cy="338192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31520" y="4128135"/>
            <a:ext cx="109728" cy="2523744"/>
            <a:chOff x="0" y="0"/>
            <a:chExt cx="146304" cy="33649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5840" y="4311015"/>
            <a:ext cx="3291840" cy="694944"/>
            <a:chOff x="0" y="0"/>
            <a:chExt cx="4389120" cy="9265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sin(θ)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17007" y="4304662"/>
            <a:ext cx="1841497" cy="524761"/>
            <a:chOff x="0" y="0"/>
            <a:chExt cx="2455329" cy="6996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023360" y="4311015"/>
            <a:ext cx="1828800" cy="518702"/>
            <a:chOff x="0" y="0"/>
            <a:chExt cx="2438400" cy="6916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5840" y="5079111"/>
            <a:ext cx="5029200" cy="557137"/>
            <a:chOff x="0" y="0"/>
            <a:chExt cx="6705600" cy="7428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0D4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All real angles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5627751"/>
            <a:ext cx="5029200" cy="914400"/>
            <a:chOff x="0" y="0"/>
            <a:chExt cx="67056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70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70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deg→rad, calls sin()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394447" y="4121782"/>
            <a:ext cx="5407657" cy="2536441"/>
            <a:chOff x="0" y="0"/>
            <a:chExt cx="7210209" cy="33819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400800" y="4128135"/>
            <a:ext cx="109728" cy="2523744"/>
            <a:chOff x="0" y="0"/>
            <a:chExt cx="146304" cy="33649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675120" y="4311015"/>
            <a:ext cx="3291840" cy="694944"/>
            <a:chOff x="0" y="0"/>
            <a:chExt cx="438912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cos(θ)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86287" y="4304662"/>
            <a:ext cx="1841497" cy="524761"/>
            <a:chOff x="0" y="0"/>
            <a:chExt cx="2455329" cy="6996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4F9CF9">
                <a:alpha val="20000"/>
              </a:srgbClr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92640" y="4311015"/>
            <a:ext cx="1828800" cy="518702"/>
            <a:chOff x="0" y="0"/>
            <a:chExt cx="2438400" cy="69160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675120" y="5079111"/>
            <a:ext cx="5029200" cy="557137"/>
            <a:chOff x="0" y="0"/>
            <a:chExt cx="6705600" cy="7428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4F9CF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All real angles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675120" y="5627751"/>
            <a:ext cx="5029200" cy="914400"/>
            <a:chOff x="0" y="0"/>
            <a:chExt cx="670560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70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670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deg→rad, calls cos()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63727" y="4121782"/>
            <a:ext cx="5407657" cy="2536441"/>
            <a:chOff x="0" y="0"/>
            <a:chExt cx="7210209" cy="338192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070080" y="4128135"/>
            <a:ext cx="109728" cy="2523744"/>
            <a:chOff x="0" y="0"/>
            <a:chExt cx="146304" cy="33649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344400" y="4311015"/>
            <a:ext cx="3291840" cy="694944"/>
            <a:chOff x="0" y="0"/>
            <a:chExt cx="4389120" cy="9265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tan(θ)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355567" y="4304662"/>
            <a:ext cx="1841497" cy="524761"/>
            <a:chOff x="0" y="0"/>
            <a:chExt cx="2455329" cy="699681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78166">
                <a:alpha val="20000"/>
              </a:srgbClr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361920" y="4311015"/>
            <a:ext cx="1828800" cy="518702"/>
            <a:chOff x="0" y="0"/>
            <a:chExt cx="2438400" cy="69160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Direct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344400" y="5079111"/>
            <a:ext cx="5029200" cy="557137"/>
            <a:chOff x="0" y="0"/>
            <a:chExt cx="6705600" cy="7428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F781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θ ≠ 90°, 270°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344400" y="5627751"/>
            <a:ext cx="5029200" cy="976237"/>
            <a:chOff x="0" y="0"/>
            <a:chExt cx="6705600" cy="13016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705600" cy="1301650"/>
            </a:xfrm>
            <a:custGeom>
              <a:avLst/>
              <a:gdLst/>
              <a:ahLst/>
              <a:cxnLst/>
              <a:rect r="r" b="b" t="t" l="l"/>
              <a:pathLst>
                <a:path h="13016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46" r="0" b="-4721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66675"/>
              <a:ext cx="670560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fmod() to detect undefined angles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25167" y="7118347"/>
            <a:ext cx="5407657" cy="2536441"/>
            <a:chOff x="0" y="0"/>
            <a:chExt cx="7210209" cy="338192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31520" y="7124700"/>
            <a:ext cx="109728" cy="2523744"/>
            <a:chOff x="0" y="0"/>
            <a:chExt cx="146304" cy="33649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05840" y="7307580"/>
            <a:ext cx="3291840" cy="694944"/>
            <a:chOff x="0" y="0"/>
            <a:chExt cx="438912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arcsin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017007" y="7301227"/>
            <a:ext cx="1841497" cy="524761"/>
            <a:chOff x="0" y="0"/>
            <a:chExt cx="2455329" cy="69968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A371F7">
                <a:alpha val="20000"/>
              </a:srgbClr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4023360" y="7307580"/>
            <a:ext cx="1828800" cy="518702"/>
            <a:chOff x="0" y="0"/>
            <a:chExt cx="2438400" cy="69160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Inverse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5840" y="8075676"/>
            <a:ext cx="5029200" cy="557137"/>
            <a:chOff x="0" y="0"/>
            <a:chExt cx="6705600" cy="74285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A371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Input ∈ [−1, 1]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05840" y="8624316"/>
            <a:ext cx="5029200" cy="976237"/>
            <a:chOff x="0" y="0"/>
            <a:chExt cx="6705600" cy="130165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705600" cy="1301650"/>
            </a:xfrm>
            <a:custGeom>
              <a:avLst/>
              <a:gdLst/>
              <a:ahLst/>
              <a:cxnLst/>
              <a:rect r="r" b="b" t="t" l="l"/>
              <a:pathLst>
                <a:path h="13016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46" r="0" b="-4721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66675"/>
              <a:ext cx="670560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angle in degrees; domain checked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394447" y="7118347"/>
            <a:ext cx="5407657" cy="2536441"/>
            <a:chOff x="0" y="0"/>
            <a:chExt cx="7210209" cy="338192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6400800" y="7124700"/>
            <a:ext cx="109728" cy="2523744"/>
            <a:chOff x="0" y="0"/>
            <a:chExt cx="146304" cy="336499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6675120" y="7307580"/>
            <a:ext cx="3291840" cy="694944"/>
            <a:chOff x="0" y="0"/>
            <a:chExt cx="4389120" cy="92659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arccos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86287" y="7301227"/>
            <a:ext cx="1841497" cy="524761"/>
            <a:chOff x="0" y="0"/>
            <a:chExt cx="2455329" cy="699681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A371F7">
                <a:alpha val="20000"/>
              </a:srgbClr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692640" y="7307580"/>
            <a:ext cx="1828800" cy="518702"/>
            <a:chOff x="0" y="0"/>
            <a:chExt cx="2438400" cy="69160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Inverse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6675120" y="8075676"/>
            <a:ext cx="5029200" cy="557137"/>
            <a:chOff x="0" y="0"/>
            <a:chExt cx="6705600" cy="74285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A371F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Input ∈ [−1, 1]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6675120" y="8624316"/>
            <a:ext cx="5029200" cy="976237"/>
            <a:chOff x="0" y="0"/>
            <a:chExt cx="6705600" cy="130165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705600" cy="1301650"/>
            </a:xfrm>
            <a:custGeom>
              <a:avLst/>
              <a:gdLst/>
              <a:ahLst/>
              <a:cxnLst/>
              <a:rect r="r" b="b" t="t" l="l"/>
              <a:pathLst>
                <a:path h="13016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301650"/>
                  </a:lnTo>
                  <a:lnTo>
                    <a:pt x="0" y="13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46" r="0" b="-47212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66675"/>
              <a:ext cx="6705600" cy="13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Returns angle in degrees; domain checked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063727" y="7118347"/>
            <a:ext cx="5407657" cy="2536441"/>
            <a:chOff x="0" y="0"/>
            <a:chExt cx="7210209" cy="3381921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8509" y="8509"/>
              <a:ext cx="7193280" cy="3364992"/>
            </a:xfrm>
            <a:custGeom>
              <a:avLst/>
              <a:gdLst/>
              <a:ahLst/>
              <a:cxnLst/>
              <a:rect r="r" b="b" t="t" l="l"/>
              <a:pathLst>
                <a:path h="3364992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210299" cy="3382010"/>
            </a:xfrm>
            <a:custGeom>
              <a:avLst/>
              <a:gdLst/>
              <a:ahLst/>
              <a:cxnLst/>
              <a:rect r="r" b="b" t="t" l="l"/>
              <a:pathLst>
                <a:path h="3382010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3373501"/>
                  </a:lnTo>
                  <a:cubicBezTo>
                    <a:pt x="7210299" y="3378200"/>
                    <a:pt x="7206488" y="3382010"/>
                    <a:pt x="7201789" y="3382010"/>
                  </a:cubicBezTo>
                  <a:lnTo>
                    <a:pt x="8509" y="3382010"/>
                  </a:lnTo>
                  <a:cubicBezTo>
                    <a:pt x="3810" y="3382010"/>
                    <a:pt x="0" y="3378200"/>
                    <a:pt x="0" y="33735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373501"/>
                  </a:lnTo>
                  <a:lnTo>
                    <a:pt x="8509" y="3373501"/>
                  </a:lnTo>
                  <a:lnTo>
                    <a:pt x="8509" y="3364992"/>
                  </a:lnTo>
                  <a:lnTo>
                    <a:pt x="7201789" y="3364992"/>
                  </a:lnTo>
                  <a:lnTo>
                    <a:pt x="7201789" y="3373501"/>
                  </a:lnTo>
                  <a:lnTo>
                    <a:pt x="7193280" y="3373501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2070080" y="7124700"/>
            <a:ext cx="109728" cy="2523744"/>
            <a:chOff x="0" y="0"/>
            <a:chExt cx="146304" cy="336499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46304" cy="3364992"/>
            </a:xfrm>
            <a:custGeom>
              <a:avLst/>
              <a:gdLst/>
              <a:ahLst/>
              <a:cxnLst/>
              <a:rect r="r" b="b" t="t" l="l"/>
              <a:pathLst>
                <a:path h="336499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344400" y="7307580"/>
            <a:ext cx="3291840" cy="694944"/>
            <a:chOff x="0" y="0"/>
            <a:chExt cx="4389120" cy="9265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389120" cy="926592"/>
            </a:xfrm>
            <a:custGeom>
              <a:avLst/>
              <a:gdLst/>
              <a:ahLst/>
              <a:cxnLst/>
              <a:rect r="r" b="b" t="t" l="l"/>
              <a:pathLst>
                <a:path h="926592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57150"/>
              <a:ext cx="4389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arctan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5355567" y="7301227"/>
            <a:ext cx="1841497" cy="524761"/>
            <a:chOff x="0" y="0"/>
            <a:chExt cx="2455329" cy="699681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8509" y="8509"/>
              <a:ext cx="2438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455418" cy="699770"/>
            </a:xfrm>
            <a:custGeom>
              <a:avLst/>
              <a:gdLst/>
              <a:ahLst/>
              <a:cxnLst/>
              <a:rect r="r" b="b" t="t" l="l"/>
              <a:pathLst>
                <a:path h="699770" w="2455418">
                  <a:moveTo>
                    <a:pt x="8509" y="0"/>
                  </a:moveTo>
                  <a:lnTo>
                    <a:pt x="2446909" y="0"/>
                  </a:lnTo>
                  <a:cubicBezTo>
                    <a:pt x="2451608" y="0"/>
                    <a:pt x="2455418" y="3810"/>
                    <a:pt x="2455418" y="8509"/>
                  </a:cubicBezTo>
                  <a:lnTo>
                    <a:pt x="2455418" y="691261"/>
                  </a:lnTo>
                  <a:cubicBezTo>
                    <a:pt x="2455418" y="695960"/>
                    <a:pt x="2451608" y="699770"/>
                    <a:pt x="2446909" y="699770"/>
                  </a:cubicBezTo>
                  <a:lnTo>
                    <a:pt x="8509" y="699770"/>
                  </a:lnTo>
                  <a:cubicBezTo>
                    <a:pt x="3810" y="699770"/>
                    <a:pt x="0" y="695960"/>
                    <a:pt x="0" y="69126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91261"/>
                  </a:lnTo>
                  <a:lnTo>
                    <a:pt x="8509" y="691261"/>
                  </a:lnTo>
                  <a:lnTo>
                    <a:pt x="8509" y="682752"/>
                  </a:lnTo>
                  <a:lnTo>
                    <a:pt x="2446909" y="682752"/>
                  </a:lnTo>
                  <a:lnTo>
                    <a:pt x="2446909" y="691261"/>
                  </a:lnTo>
                  <a:lnTo>
                    <a:pt x="2438400" y="691261"/>
                  </a:lnTo>
                  <a:lnTo>
                    <a:pt x="2438400" y="8509"/>
                  </a:lnTo>
                  <a:lnTo>
                    <a:pt x="2446909" y="8509"/>
                  </a:lnTo>
                  <a:lnTo>
                    <a:pt x="24469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361920" y="7307580"/>
            <a:ext cx="1828800" cy="518702"/>
            <a:chOff x="0" y="0"/>
            <a:chExt cx="2438400" cy="691603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438400" cy="691603"/>
            </a:xfrm>
            <a:custGeom>
              <a:avLst/>
              <a:gdLst/>
              <a:ahLst/>
              <a:cxnLst/>
              <a:rect r="r" b="b" t="t" l="l"/>
              <a:pathLst>
                <a:path h="691603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691603"/>
                  </a:lnTo>
                  <a:lnTo>
                    <a:pt x="0" y="691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8" r="0" b="-18058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57150"/>
              <a:ext cx="2438400" cy="748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Inverse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2344400" y="8075676"/>
            <a:ext cx="5029200" cy="557137"/>
            <a:chOff x="0" y="0"/>
            <a:chExt cx="6705600" cy="74285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705600" cy="742850"/>
            </a:xfrm>
            <a:custGeom>
              <a:avLst/>
              <a:gdLst/>
              <a:ahLst/>
              <a:cxnLst/>
              <a:rect r="r" b="b" t="t" l="l"/>
              <a:pathLst>
                <a:path h="74285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42850"/>
                  </a:lnTo>
                  <a:lnTo>
                    <a:pt x="0" y="7428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933" r="0" b="-121843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66675"/>
              <a:ext cx="6705600" cy="80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00D4A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Domain: All real numbers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2344400" y="8624316"/>
            <a:ext cx="5029200" cy="914400"/>
            <a:chOff x="0" y="0"/>
            <a:chExt cx="6705600" cy="12192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70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66675"/>
              <a:ext cx="67056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domain restriction; atan() used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1283" y="3388366"/>
            <a:ext cx="8610150" cy="2750306"/>
            <a:chOff x="0" y="0"/>
            <a:chExt cx="10390289" cy="3318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589" y="13589"/>
              <a:ext cx="10363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90378" cy="3319018"/>
            </a:xfrm>
            <a:custGeom>
              <a:avLst/>
              <a:gdLst/>
              <a:ahLst/>
              <a:cxnLst/>
              <a:rect r="r" b="b" t="t" l="l"/>
              <a:pathLst>
                <a:path h="3319018" w="10390378">
                  <a:moveTo>
                    <a:pt x="13589" y="0"/>
                  </a:moveTo>
                  <a:lnTo>
                    <a:pt x="10376789" y="0"/>
                  </a:lnTo>
                  <a:cubicBezTo>
                    <a:pt x="10384282" y="0"/>
                    <a:pt x="10390378" y="6096"/>
                    <a:pt x="10390378" y="13589"/>
                  </a:cubicBezTo>
                  <a:lnTo>
                    <a:pt x="10390378" y="3305429"/>
                  </a:lnTo>
                  <a:cubicBezTo>
                    <a:pt x="10390378" y="3312922"/>
                    <a:pt x="10384282" y="3319018"/>
                    <a:pt x="10376789" y="3319018"/>
                  </a:cubicBezTo>
                  <a:lnTo>
                    <a:pt x="13589" y="3319018"/>
                  </a:lnTo>
                  <a:cubicBezTo>
                    <a:pt x="6096" y="3319018"/>
                    <a:pt x="0" y="3312922"/>
                    <a:pt x="0" y="3305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305429"/>
                  </a:lnTo>
                  <a:lnTo>
                    <a:pt x="13589" y="3305429"/>
                  </a:lnTo>
                  <a:lnTo>
                    <a:pt x="13589" y="3291840"/>
                  </a:lnTo>
                  <a:lnTo>
                    <a:pt x="10376789" y="3291840"/>
                  </a:lnTo>
                  <a:lnTo>
                    <a:pt x="10376789" y="3305429"/>
                  </a:lnTo>
                  <a:lnTo>
                    <a:pt x="10363200" y="3305429"/>
                  </a:lnTo>
                  <a:lnTo>
                    <a:pt x="10363200" y="13589"/>
                  </a:lnTo>
                  <a:lnTo>
                    <a:pt x="10376789" y="13589"/>
                  </a:lnTo>
                  <a:lnTo>
                    <a:pt x="10376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608" y="3601659"/>
            <a:ext cx="7880480" cy="707223"/>
            <a:chOff x="0" y="0"/>
            <a:chExt cx="950976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⚠  Error Handling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51283" y="4298358"/>
            <a:ext cx="8440779" cy="1616509"/>
            <a:chOff x="0" y="0"/>
            <a:chExt cx="10185901" cy="1950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8590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0185901">
                  <a:moveTo>
                    <a:pt x="0" y="0"/>
                  </a:moveTo>
                  <a:lnTo>
                    <a:pt x="10185901" y="0"/>
                  </a:lnTo>
                  <a:lnTo>
                    <a:pt x="1018590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6638" b="-4498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185901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tan(90°) Undefined: The program uses fmod(angle, 180.0) == 90.0 to detect this and prints an error.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78352" y="6769103"/>
            <a:ext cx="8758364" cy="2797650"/>
            <a:chOff x="0" y="0"/>
            <a:chExt cx="10390289" cy="33189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3589" y="13589"/>
              <a:ext cx="10363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90378" cy="3319018"/>
            </a:xfrm>
            <a:custGeom>
              <a:avLst/>
              <a:gdLst/>
              <a:ahLst/>
              <a:cxnLst/>
              <a:rect r="r" b="b" t="t" l="l"/>
              <a:pathLst>
                <a:path h="3319018" w="10390378">
                  <a:moveTo>
                    <a:pt x="13589" y="0"/>
                  </a:moveTo>
                  <a:lnTo>
                    <a:pt x="10376789" y="0"/>
                  </a:lnTo>
                  <a:cubicBezTo>
                    <a:pt x="10384282" y="0"/>
                    <a:pt x="10390378" y="6096"/>
                    <a:pt x="10390378" y="13589"/>
                  </a:cubicBezTo>
                  <a:lnTo>
                    <a:pt x="10390378" y="3305429"/>
                  </a:lnTo>
                  <a:cubicBezTo>
                    <a:pt x="10390378" y="3312922"/>
                    <a:pt x="10384282" y="3319018"/>
                    <a:pt x="10376789" y="3319018"/>
                  </a:cubicBezTo>
                  <a:lnTo>
                    <a:pt x="13589" y="3319018"/>
                  </a:lnTo>
                  <a:cubicBezTo>
                    <a:pt x="6096" y="3319018"/>
                    <a:pt x="0" y="3312922"/>
                    <a:pt x="0" y="33054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305429"/>
                  </a:lnTo>
                  <a:lnTo>
                    <a:pt x="13589" y="3305429"/>
                  </a:lnTo>
                  <a:lnTo>
                    <a:pt x="13589" y="3291840"/>
                  </a:lnTo>
                  <a:lnTo>
                    <a:pt x="10376789" y="3291840"/>
                  </a:lnTo>
                  <a:lnTo>
                    <a:pt x="10376789" y="3305429"/>
                  </a:lnTo>
                  <a:lnTo>
                    <a:pt x="10363200" y="3305429"/>
                  </a:lnTo>
                  <a:lnTo>
                    <a:pt x="10363200" y="13589"/>
                  </a:lnTo>
                  <a:lnTo>
                    <a:pt x="10376789" y="13589"/>
                  </a:lnTo>
                  <a:lnTo>
                    <a:pt x="103767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498088" y="6986068"/>
            <a:ext cx="8016133" cy="719397"/>
            <a:chOff x="0" y="0"/>
            <a:chExt cx="950976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09760" cy="853440"/>
            </a:xfrm>
            <a:custGeom>
              <a:avLst/>
              <a:gdLst/>
              <a:ahLst/>
              <a:cxnLst/>
              <a:rect r="r" b="b" t="t" l="l"/>
              <a:pathLst>
                <a:path h="853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7118" r="0" b="-16711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50976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⚠  Error Handling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498088" y="7705464"/>
            <a:ext cx="8016133" cy="1644335"/>
            <a:chOff x="0" y="0"/>
            <a:chExt cx="9509760" cy="1950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950976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04516" indent="-302258" lvl="1">
                <a:lnSpc>
                  <a:spcPts val="3359"/>
                </a:lnSpc>
                <a:buFont typeface="Arial"/>
                <a:buChar char="•"/>
              </a:pPr>
              <a:r>
                <a:rPr lang="en-US" sz="27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arcsin - arccos Domain Error: The program validates the input and rejects out-of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28800" y="219456"/>
            <a:ext cx="11887200" cy="914400"/>
            <a:chOff x="0" y="0"/>
            <a:chExt cx="1584960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58496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Trigonometric Operations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83664" y="1152906"/>
            <a:ext cx="9144000" cy="640080"/>
            <a:chOff x="0" y="0"/>
            <a:chExt cx="1219200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Usayed Bin Gias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801600" y="274320"/>
            <a:ext cx="5120640" cy="1097280"/>
            <a:chOff x="0" y="0"/>
            <a:chExt cx="682752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68275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sin  cos  tan  arc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1887200" cy="914400"/>
            <a:chOff x="0" y="0"/>
            <a:chExt cx="15849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58496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Logarithmic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0" y="113385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Abrar Shahriar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01600" y="274320"/>
            <a:ext cx="5120640" cy="1097280"/>
            <a:chOff x="0" y="0"/>
            <a:chExt cx="68275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68275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log  ln  logₙ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279647"/>
            <a:ext cx="5407657" cy="4584697"/>
            <a:chOff x="0" y="0"/>
            <a:chExt cx="7210209" cy="611292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10299" cy="6113018"/>
            </a:xfrm>
            <a:custGeom>
              <a:avLst/>
              <a:gdLst/>
              <a:ahLst/>
              <a:cxnLst/>
              <a:rect r="r" b="b" t="t" l="l"/>
              <a:pathLst>
                <a:path h="611301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104509"/>
                  </a:lnTo>
                  <a:cubicBezTo>
                    <a:pt x="7210299" y="6109208"/>
                    <a:pt x="7206488" y="6113018"/>
                    <a:pt x="7201789" y="6113018"/>
                  </a:cubicBezTo>
                  <a:lnTo>
                    <a:pt x="8509" y="6113018"/>
                  </a:lnTo>
                  <a:cubicBezTo>
                    <a:pt x="3810" y="6113018"/>
                    <a:pt x="0" y="6109208"/>
                    <a:pt x="0" y="61045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04509"/>
                  </a:lnTo>
                  <a:lnTo>
                    <a:pt x="8509" y="6104509"/>
                  </a:lnTo>
                  <a:lnTo>
                    <a:pt x="8509" y="6096000"/>
                  </a:lnTo>
                  <a:lnTo>
                    <a:pt x="7201789" y="6096000"/>
                  </a:lnTo>
                  <a:lnTo>
                    <a:pt x="7201789" y="6104509"/>
                  </a:lnTo>
                  <a:lnTo>
                    <a:pt x="7193280" y="61045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286000"/>
            <a:ext cx="109728" cy="4572000"/>
            <a:chOff x="0" y="0"/>
            <a:chExt cx="146304" cy="6096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2468880"/>
            <a:ext cx="4937760" cy="1005840"/>
            <a:chOff x="0" y="0"/>
            <a:chExt cx="658368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65836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log₁₀(x)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90927" y="3559807"/>
            <a:ext cx="4676137" cy="12697"/>
            <a:chOff x="0" y="0"/>
            <a:chExt cx="6234849" cy="169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0"/>
              <a:ext cx="6217920" cy="16891"/>
            </a:xfrm>
            <a:custGeom>
              <a:avLst/>
              <a:gdLst/>
              <a:ahLst/>
              <a:cxnLst/>
              <a:rect r="r" b="b" t="t" l="l"/>
              <a:pathLst>
                <a:path h="16891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05840" y="3657600"/>
            <a:ext cx="4937760" cy="548640"/>
            <a:chOff x="0" y="0"/>
            <a:chExt cx="65836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Logarithm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4206240"/>
            <a:ext cx="4937760" cy="548640"/>
            <a:chOff x="0" y="0"/>
            <a:chExt cx="658368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i="true">
                  <a:solidFill>
                    <a:srgbClr val="00D4A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Base 10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5840" y="4791456"/>
            <a:ext cx="4937760" cy="1645920"/>
            <a:chOff x="0" y="0"/>
            <a:chExt cx="658368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58368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log10() from math.h directly.</a:t>
              </a:r>
            </a:p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Output precise to 6 decimal places.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94447" y="2279647"/>
            <a:ext cx="5407657" cy="4584697"/>
            <a:chOff x="0" y="0"/>
            <a:chExt cx="7210209" cy="61129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10299" cy="6113018"/>
            </a:xfrm>
            <a:custGeom>
              <a:avLst/>
              <a:gdLst/>
              <a:ahLst/>
              <a:cxnLst/>
              <a:rect r="r" b="b" t="t" l="l"/>
              <a:pathLst>
                <a:path h="611301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104509"/>
                  </a:lnTo>
                  <a:cubicBezTo>
                    <a:pt x="7210299" y="6109208"/>
                    <a:pt x="7206488" y="6113018"/>
                    <a:pt x="7201789" y="6113018"/>
                  </a:cubicBezTo>
                  <a:lnTo>
                    <a:pt x="8509" y="6113018"/>
                  </a:lnTo>
                  <a:cubicBezTo>
                    <a:pt x="3810" y="6113018"/>
                    <a:pt x="0" y="6109208"/>
                    <a:pt x="0" y="61045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04509"/>
                  </a:lnTo>
                  <a:lnTo>
                    <a:pt x="8509" y="6104509"/>
                  </a:lnTo>
                  <a:lnTo>
                    <a:pt x="8509" y="6096000"/>
                  </a:lnTo>
                  <a:lnTo>
                    <a:pt x="7201789" y="6096000"/>
                  </a:lnTo>
                  <a:lnTo>
                    <a:pt x="7201789" y="6104509"/>
                  </a:lnTo>
                  <a:lnTo>
                    <a:pt x="7193280" y="61045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00800" y="2286000"/>
            <a:ext cx="109728" cy="4572000"/>
            <a:chOff x="0" y="0"/>
            <a:chExt cx="146304" cy="6096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75120" y="2468880"/>
            <a:ext cx="4937760" cy="1005840"/>
            <a:chOff x="0" y="0"/>
            <a:chExt cx="6583680" cy="13411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65836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ln(x)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760207" y="3559807"/>
            <a:ext cx="4676137" cy="12697"/>
            <a:chOff x="0" y="0"/>
            <a:chExt cx="6234849" cy="1692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8509" y="0"/>
              <a:ext cx="6217920" cy="16891"/>
            </a:xfrm>
            <a:custGeom>
              <a:avLst/>
              <a:gdLst/>
              <a:ahLst/>
              <a:cxnLst/>
              <a:rect r="r" b="b" t="t" l="l"/>
              <a:pathLst>
                <a:path h="16891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675120" y="3657600"/>
            <a:ext cx="4937760" cy="548640"/>
            <a:chOff x="0" y="0"/>
            <a:chExt cx="65836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Natural Logarithm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675120" y="4206240"/>
            <a:ext cx="4937760" cy="548640"/>
            <a:chOff x="0" y="0"/>
            <a:chExt cx="658368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i="true">
                  <a:solidFill>
                    <a:srgbClr val="4F9CF9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Base e ≈ 2.71828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675120" y="4791456"/>
            <a:ext cx="4937760" cy="1645920"/>
            <a:chOff x="0" y="0"/>
            <a:chExt cx="6583680" cy="2194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658368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log() from math.h.</a:t>
              </a:r>
            </a:p>
            <a:p>
              <a:pPr algn="l">
                <a:lnSpc>
                  <a:spcPts val="3479"/>
                </a:lnSpc>
              </a:pPr>
              <a:r>
                <a:rPr lang="en-US" sz="28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Euler's number as the base.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063727" y="2279647"/>
            <a:ext cx="5407657" cy="4584697"/>
            <a:chOff x="0" y="0"/>
            <a:chExt cx="7210209" cy="61129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8509" y="8509"/>
              <a:ext cx="7193280" cy="6096000"/>
            </a:xfrm>
            <a:custGeom>
              <a:avLst/>
              <a:gdLst/>
              <a:ahLst/>
              <a:cxnLst/>
              <a:rect r="r" b="b" t="t" l="l"/>
              <a:pathLst>
                <a:path h="609600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10299" cy="6113018"/>
            </a:xfrm>
            <a:custGeom>
              <a:avLst/>
              <a:gdLst/>
              <a:ahLst/>
              <a:cxnLst/>
              <a:rect r="r" b="b" t="t" l="l"/>
              <a:pathLst>
                <a:path h="611301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104509"/>
                  </a:lnTo>
                  <a:cubicBezTo>
                    <a:pt x="7210299" y="6109208"/>
                    <a:pt x="7206488" y="6113018"/>
                    <a:pt x="7201789" y="6113018"/>
                  </a:cubicBezTo>
                  <a:lnTo>
                    <a:pt x="8509" y="6113018"/>
                  </a:lnTo>
                  <a:cubicBezTo>
                    <a:pt x="3810" y="6113018"/>
                    <a:pt x="0" y="6109208"/>
                    <a:pt x="0" y="61045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104509"/>
                  </a:lnTo>
                  <a:lnTo>
                    <a:pt x="8509" y="6104509"/>
                  </a:lnTo>
                  <a:lnTo>
                    <a:pt x="8509" y="6096000"/>
                  </a:lnTo>
                  <a:lnTo>
                    <a:pt x="7201789" y="6096000"/>
                  </a:lnTo>
                  <a:lnTo>
                    <a:pt x="7201789" y="6104509"/>
                  </a:lnTo>
                  <a:lnTo>
                    <a:pt x="7193280" y="6104509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070080" y="2286000"/>
            <a:ext cx="109728" cy="4572000"/>
            <a:chOff x="0" y="0"/>
            <a:chExt cx="146304" cy="6096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" cy="6096000"/>
            </a:xfrm>
            <a:custGeom>
              <a:avLst/>
              <a:gdLst/>
              <a:ahLst/>
              <a:cxnLst/>
              <a:rect r="r" b="b" t="t" l="l"/>
              <a:pathLst>
                <a:path h="60960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0" y="2468880"/>
            <a:ext cx="4937760" cy="1005840"/>
            <a:chOff x="0" y="0"/>
            <a:chExt cx="658368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658368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logₙ(x)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29487" y="3559807"/>
            <a:ext cx="4676137" cy="12697"/>
            <a:chOff x="0" y="0"/>
            <a:chExt cx="6234849" cy="169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0"/>
              <a:ext cx="6217920" cy="16891"/>
            </a:xfrm>
            <a:custGeom>
              <a:avLst/>
              <a:gdLst/>
              <a:ahLst/>
              <a:cxnLst/>
              <a:rect r="r" b="b" t="t" l="l"/>
              <a:pathLst>
                <a:path h="16891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44400" y="3657600"/>
            <a:ext cx="4937760" cy="548640"/>
            <a:chOff x="0" y="0"/>
            <a:chExt cx="6583680" cy="731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Base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344400" y="4206240"/>
            <a:ext cx="4937760" cy="548640"/>
            <a:chOff x="0" y="0"/>
            <a:chExt cx="658368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 i="true">
                  <a:solidFill>
                    <a:srgbClr val="F78166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logₙ(x) = ln(x)/ln(n)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344400" y="4791456"/>
            <a:ext cx="4937760" cy="1645920"/>
            <a:chOff x="0" y="0"/>
            <a:chExt cx="6583680" cy="21945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6583680" cy="2261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Change-of-base formula applied.</a:t>
              </a:r>
            </a:p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specifies the base.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31520" y="7040880"/>
            <a:ext cx="16824960" cy="548640"/>
            <a:chOff x="0" y="0"/>
            <a:chExt cx="2243328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00">
                  <a:solidFill>
                    <a:srgbClr val="D9D9D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ERROR HANDLING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21357" y="7670797"/>
            <a:ext cx="8249917" cy="2031997"/>
            <a:chOff x="0" y="0"/>
            <a:chExt cx="10999889" cy="270932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3589" y="13589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99978" cy="2709418"/>
            </a:xfrm>
            <a:custGeom>
              <a:avLst/>
              <a:gdLst/>
              <a:ahLst/>
              <a:cxnLst/>
              <a:rect r="r" b="b" t="t" l="l"/>
              <a:pathLst>
                <a:path h="270941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695829"/>
                  </a:lnTo>
                  <a:cubicBezTo>
                    <a:pt x="10999978" y="2703322"/>
                    <a:pt x="10993882" y="2709418"/>
                    <a:pt x="10986389" y="2709418"/>
                  </a:cubicBezTo>
                  <a:lnTo>
                    <a:pt x="13589" y="2709418"/>
                  </a:lnTo>
                  <a:cubicBezTo>
                    <a:pt x="6096" y="2709418"/>
                    <a:pt x="0" y="2703322"/>
                    <a:pt x="0" y="26958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695829"/>
                  </a:lnTo>
                  <a:lnTo>
                    <a:pt x="13589" y="2695829"/>
                  </a:lnTo>
                  <a:lnTo>
                    <a:pt x="13589" y="2682240"/>
                  </a:lnTo>
                  <a:lnTo>
                    <a:pt x="10986389" y="2682240"/>
                  </a:lnTo>
                  <a:lnTo>
                    <a:pt x="10986389" y="2695829"/>
                  </a:lnTo>
                  <a:lnTo>
                    <a:pt x="10972800" y="269582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05840" y="7863840"/>
            <a:ext cx="7680960" cy="640080"/>
            <a:chOff x="0" y="0"/>
            <a:chExt cx="10241280" cy="8534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⚠  Non-positive Input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05840" y="8540496"/>
            <a:ext cx="7680960" cy="914400"/>
            <a:chOff x="0" y="0"/>
            <a:chExt cx="10241280" cy="1219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10241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 ≤ 0 → error printed before any computation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91037" y="7670797"/>
            <a:ext cx="8249917" cy="2031997"/>
            <a:chOff x="0" y="0"/>
            <a:chExt cx="10999889" cy="270932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3589" y="13589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99978" cy="2709418"/>
            </a:xfrm>
            <a:custGeom>
              <a:avLst/>
              <a:gdLst/>
              <a:ahLst/>
              <a:cxnLst/>
              <a:rect r="r" b="b" t="t" l="l"/>
              <a:pathLst>
                <a:path h="2709418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695829"/>
                  </a:lnTo>
                  <a:cubicBezTo>
                    <a:pt x="10999978" y="2703322"/>
                    <a:pt x="10993882" y="2709418"/>
                    <a:pt x="10986389" y="2709418"/>
                  </a:cubicBezTo>
                  <a:lnTo>
                    <a:pt x="13589" y="2709418"/>
                  </a:lnTo>
                  <a:cubicBezTo>
                    <a:pt x="6096" y="2709418"/>
                    <a:pt x="0" y="2703322"/>
                    <a:pt x="0" y="269582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695829"/>
                  </a:lnTo>
                  <a:lnTo>
                    <a:pt x="13589" y="2695829"/>
                  </a:lnTo>
                  <a:lnTo>
                    <a:pt x="13589" y="2682240"/>
                  </a:lnTo>
                  <a:lnTo>
                    <a:pt x="10986389" y="2682240"/>
                  </a:lnTo>
                  <a:lnTo>
                    <a:pt x="10986389" y="2695829"/>
                  </a:lnTo>
                  <a:lnTo>
                    <a:pt x="10972800" y="2695829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75520" y="7863840"/>
            <a:ext cx="7680960" cy="640080"/>
            <a:chOff x="0" y="0"/>
            <a:chExt cx="10241280" cy="853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1024128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78166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⚠  Invalid Custom Base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875520" y="8540496"/>
            <a:ext cx="7680960" cy="914400"/>
            <a:chOff x="0" y="0"/>
            <a:chExt cx="10241280" cy="12192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1024128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&gt; 0 and base ≠ 1 are both required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A371F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3716000" cy="914400"/>
            <a:chOff x="0" y="0"/>
            <a:chExt cx="182880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82880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Factorial, Permutation &amp; Combination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0" y="113385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Abrar Shahriar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274320"/>
            <a:ext cx="6035040" cy="1097280"/>
            <a:chOff x="0" y="0"/>
            <a:chExt cx="80467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0467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40"/>
                </a:lnSpc>
              </a:pPr>
              <a:r>
                <a:rPr lang="en-US" sz="3200" b="true">
                  <a:solidFill>
                    <a:srgbClr val="A371F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n!  P(n,r)  C(n,r)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279647"/>
            <a:ext cx="5407657" cy="5133337"/>
            <a:chOff x="0" y="0"/>
            <a:chExt cx="7210209" cy="68444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7193280" cy="6827519"/>
            </a:xfrm>
            <a:custGeom>
              <a:avLst/>
              <a:gdLst/>
              <a:ahLst/>
              <a:cxnLst/>
              <a:rect r="r" b="b" t="t" l="l"/>
              <a:pathLst>
                <a:path h="6827519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10299" cy="6844538"/>
            </a:xfrm>
            <a:custGeom>
              <a:avLst/>
              <a:gdLst/>
              <a:ahLst/>
              <a:cxnLst/>
              <a:rect r="r" b="b" t="t" l="l"/>
              <a:pathLst>
                <a:path h="684453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836028"/>
                  </a:lnTo>
                  <a:cubicBezTo>
                    <a:pt x="7210299" y="6840727"/>
                    <a:pt x="7206488" y="6844538"/>
                    <a:pt x="720178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7201789" y="6827520"/>
                  </a:lnTo>
                  <a:lnTo>
                    <a:pt x="7201789" y="6836028"/>
                  </a:lnTo>
                  <a:lnTo>
                    <a:pt x="7193280" y="6836028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286000"/>
            <a:ext cx="109728" cy="5120640"/>
            <a:chOff x="0" y="0"/>
            <a:chExt cx="146304" cy="682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" cy="6827520"/>
            </a:xfrm>
            <a:custGeom>
              <a:avLst/>
              <a:gdLst/>
              <a:ahLst/>
              <a:cxnLst/>
              <a:rect r="r" b="b" t="t" l="l"/>
              <a:pathLst>
                <a:path h="682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2468880"/>
            <a:ext cx="4937760" cy="731520"/>
            <a:chOff x="0" y="0"/>
            <a:chExt cx="658368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Factorial  n!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9487" y="3285487"/>
            <a:ext cx="4767577" cy="835657"/>
            <a:chOff x="0" y="0"/>
            <a:chExt cx="6356769" cy="111420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D4AA">
                <a:alpha val="8627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6858" cy="1114298"/>
            </a:xfrm>
            <a:custGeom>
              <a:avLst/>
              <a:gdLst/>
              <a:ahLst/>
              <a:cxnLst/>
              <a:rect r="r" b="b" t="t" l="l"/>
              <a:pathLst>
                <a:path h="111429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1105789"/>
                  </a:lnTo>
                  <a:cubicBezTo>
                    <a:pt x="6356858" y="1110488"/>
                    <a:pt x="6353048" y="1114298"/>
                    <a:pt x="634834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6348349" y="1097280"/>
                  </a:lnTo>
                  <a:lnTo>
                    <a:pt x="6348349" y="1105789"/>
                  </a:lnTo>
                  <a:lnTo>
                    <a:pt x="6339840" y="110578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5840" y="3291840"/>
            <a:ext cx="4754880" cy="822960"/>
            <a:chOff x="0" y="0"/>
            <a:chExt cx="633984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n! = 1 × 2 × ... × 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5840" y="4242816"/>
            <a:ext cx="4937760" cy="2743200"/>
            <a:chOff x="0" y="0"/>
            <a:chExt cx="6583680" cy="365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61925"/>
              <a:ext cx="6583680" cy="381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Iterative loop (avoids stack overflow from recursion). Return type is double to accommodate large values. Convention: 0! = 1.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394447" y="2279647"/>
            <a:ext cx="5407657" cy="5133337"/>
            <a:chOff x="0" y="0"/>
            <a:chExt cx="7210209" cy="68444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8509" y="8509"/>
              <a:ext cx="7193280" cy="6827519"/>
            </a:xfrm>
            <a:custGeom>
              <a:avLst/>
              <a:gdLst/>
              <a:ahLst/>
              <a:cxnLst/>
              <a:rect r="r" b="b" t="t" l="l"/>
              <a:pathLst>
                <a:path h="6827519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10299" cy="6844538"/>
            </a:xfrm>
            <a:custGeom>
              <a:avLst/>
              <a:gdLst/>
              <a:ahLst/>
              <a:cxnLst/>
              <a:rect r="r" b="b" t="t" l="l"/>
              <a:pathLst>
                <a:path h="684453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836028"/>
                  </a:lnTo>
                  <a:cubicBezTo>
                    <a:pt x="7210299" y="6840727"/>
                    <a:pt x="7206488" y="6844538"/>
                    <a:pt x="720178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7201789" y="6827520"/>
                  </a:lnTo>
                  <a:lnTo>
                    <a:pt x="7201789" y="6836028"/>
                  </a:lnTo>
                  <a:lnTo>
                    <a:pt x="7193280" y="6836028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00800" y="2286000"/>
            <a:ext cx="109728" cy="5120640"/>
            <a:chOff x="0" y="0"/>
            <a:chExt cx="146304" cy="6827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" cy="6827520"/>
            </a:xfrm>
            <a:custGeom>
              <a:avLst/>
              <a:gdLst/>
              <a:ahLst/>
              <a:cxnLst/>
              <a:rect r="r" b="b" t="t" l="l"/>
              <a:pathLst>
                <a:path h="682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75120" y="2468880"/>
            <a:ext cx="4937760" cy="731520"/>
            <a:chOff x="0" y="0"/>
            <a:chExt cx="658368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Permutation  P(n,r)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668767" y="3285487"/>
            <a:ext cx="4767577" cy="835657"/>
            <a:chOff x="0" y="0"/>
            <a:chExt cx="6356769" cy="111420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8509" y="8509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4F9CF9">
                <a:alpha val="8627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56858" cy="1114298"/>
            </a:xfrm>
            <a:custGeom>
              <a:avLst/>
              <a:gdLst/>
              <a:ahLst/>
              <a:cxnLst/>
              <a:rect r="r" b="b" t="t" l="l"/>
              <a:pathLst>
                <a:path h="1114298" w="6356858">
                  <a:moveTo>
                    <a:pt x="8509" y="0"/>
                  </a:moveTo>
                  <a:lnTo>
                    <a:pt x="6348349" y="0"/>
                  </a:lnTo>
                  <a:cubicBezTo>
                    <a:pt x="6353048" y="0"/>
                    <a:pt x="6356858" y="3810"/>
                    <a:pt x="6356858" y="8509"/>
                  </a:cubicBezTo>
                  <a:lnTo>
                    <a:pt x="6356858" y="1105789"/>
                  </a:lnTo>
                  <a:cubicBezTo>
                    <a:pt x="6356858" y="1110488"/>
                    <a:pt x="6353048" y="1114298"/>
                    <a:pt x="634834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6348349" y="1097280"/>
                  </a:lnTo>
                  <a:lnTo>
                    <a:pt x="6348349" y="1105789"/>
                  </a:lnTo>
                  <a:lnTo>
                    <a:pt x="6339840" y="1105789"/>
                  </a:lnTo>
                  <a:lnTo>
                    <a:pt x="6339840" y="8509"/>
                  </a:lnTo>
                  <a:lnTo>
                    <a:pt x="6348349" y="8509"/>
                  </a:lnTo>
                  <a:lnTo>
                    <a:pt x="6348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675120" y="3291840"/>
            <a:ext cx="4754880" cy="822960"/>
            <a:chOff x="0" y="0"/>
            <a:chExt cx="63398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P(n,r) = n! / (n−r)!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75120" y="4242816"/>
            <a:ext cx="4937760" cy="2743200"/>
            <a:chOff x="0" y="0"/>
            <a:chExt cx="6583680" cy="3657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61925"/>
              <a:ext cx="6583680" cy="381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Counts ordered arrangements of r items from n. Calls factorial() twice. Order matters.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063727" y="2279647"/>
            <a:ext cx="5407657" cy="5133337"/>
            <a:chOff x="0" y="0"/>
            <a:chExt cx="7210209" cy="684444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7193280" cy="6827519"/>
            </a:xfrm>
            <a:custGeom>
              <a:avLst/>
              <a:gdLst/>
              <a:ahLst/>
              <a:cxnLst/>
              <a:rect r="r" b="b" t="t" l="l"/>
              <a:pathLst>
                <a:path h="6827519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6827519"/>
                  </a:lnTo>
                  <a:lnTo>
                    <a:pt x="0" y="6827519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10299" cy="6844538"/>
            </a:xfrm>
            <a:custGeom>
              <a:avLst/>
              <a:gdLst/>
              <a:ahLst/>
              <a:cxnLst/>
              <a:rect r="r" b="b" t="t" l="l"/>
              <a:pathLst>
                <a:path h="6844538" w="7210299">
                  <a:moveTo>
                    <a:pt x="8509" y="0"/>
                  </a:moveTo>
                  <a:lnTo>
                    <a:pt x="7201789" y="0"/>
                  </a:lnTo>
                  <a:cubicBezTo>
                    <a:pt x="7206488" y="0"/>
                    <a:pt x="7210299" y="3810"/>
                    <a:pt x="7210299" y="8509"/>
                  </a:cubicBezTo>
                  <a:lnTo>
                    <a:pt x="7210299" y="6836028"/>
                  </a:lnTo>
                  <a:cubicBezTo>
                    <a:pt x="7210299" y="6840727"/>
                    <a:pt x="7206488" y="6844538"/>
                    <a:pt x="7201789" y="6844538"/>
                  </a:cubicBezTo>
                  <a:lnTo>
                    <a:pt x="8509" y="6844538"/>
                  </a:lnTo>
                  <a:cubicBezTo>
                    <a:pt x="3810" y="6844538"/>
                    <a:pt x="0" y="6840727"/>
                    <a:pt x="0" y="6836028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836028"/>
                  </a:lnTo>
                  <a:lnTo>
                    <a:pt x="8509" y="6836028"/>
                  </a:lnTo>
                  <a:lnTo>
                    <a:pt x="8509" y="6827520"/>
                  </a:lnTo>
                  <a:lnTo>
                    <a:pt x="7201789" y="6827520"/>
                  </a:lnTo>
                  <a:lnTo>
                    <a:pt x="7201789" y="6836028"/>
                  </a:lnTo>
                  <a:lnTo>
                    <a:pt x="7193280" y="6836028"/>
                  </a:lnTo>
                  <a:lnTo>
                    <a:pt x="7193280" y="8509"/>
                  </a:lnTo>
                  <a:lnTo>
                    <a:pt x="7201789" y="8509"/>
                  </a:lnTo>
                  <a:lnTo>
                    <a:pt x="72017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070080" y="2286000"/>
            <a:ext cx="109728" cy="5120640"/>
            <a:chOff x="0" y="0"/>
            <a:chExt cx="146304" cy="6827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" cy="6827520"/>
            </a:xfrm>
            <a:custGeom>
              <a:avLst/>
              <a:gdLst/>
              <a:ahLst/>
              <a:cxnLst/>
              <a:rect r="r" b="b" t="t" l="l"/>
              <a:pathLst>
                <a:path h="682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44400" y="2468880"/>
            <a:ext cx="4937760" cy="731520"/>
            <a:chOff x="0" y="0"/>
            <a:chExt cx="658368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975360"/>
            </a:xfrm>
            <a:custGeom>
              <a:avLst/>
              <a:gdLst/>
              <a:ahLst/>
              <a:cxnLst/>
              <a:rect r="r" b="b" t="t" l="l"/>
              <a:pathLst>
                <a:path h="9753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65836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Combination  C(n,r)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38047" y="3285487"/>
            <a:ext cx="4921253" cy="835657"/>
            <a:chOff x="0" y="0"/>
            <a:chExt cx="6561671" cy="11142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783" y="8509"/>
              <a:ext cx="6544197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44197">
                  <a:moveTo>
                    <a:pt x="0" y="0"/>
                  </a:moveTo>
                  <a:lnTo>
                    <a:pt x="6544197" y="0"/>
                  </a:lnTo>
                  <a:lnTo>
                    <a:pt x="6544197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A371F7">
                <a:alpha val="8627"/>
              </a:srgbClr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61760" cy="1114298"/>
            </a:xfrm>
            <a:custGeom>
              <a:avLst/>
              <a:gdLst/>
              <a:ahLst/>
              <a:cxnLst/>
              <a:rect r="r" b="b" t="t" l="l"/>
              <a:pathLst>
                <a:path h="1114298" w="6561760">
                  <a:moveTo>
                    <a:pt x="8783" y="0"/>
                  </a:moveTo>
                  <a:lnTo>
                    <a:pt x="6552980" y="0"/>
                  </a:lnTo>
                  <a:cubicBezTo>
                    <a:pt x="6557830" y="0"/>
                    <a:pt x="6561760" y="3810"/>
                    <a:pt x="6561760" y="8509"/>
                  </a:cubicBezTo>
                  <a:lnTo>
                    <a:pt x="6561760" y="1105789"/>
                  </a:lnTo>
                  <a:cubicBezTo>
                    <a:pt x="6561760" y="1110488"/>
                    <a:pt x="6557830" y="1114298"/>
                    <a:pt x="6552980" y="1114298"/>
                  </a:cubicBezTo>
                  <a:lnTo>
                    <a:pt x="8783" y="1114298"/>
                  </a:lnTo>
                  <a:cubicBezTo>
                    <a:pt x="3933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933" y="0"/>
                    <a:pt x="8783" y="0"/>
                  </a:cubicBezTo>
                  <a:moveTo>
                    <a:pt x="8783" y="16891"/>
                  </a:moveTo>
                  <a:lnTo>
                    <a:pt x="8783" y="8509"/>
                  </a:lnTo>
                  <a:lnTo>
                    <a:pt x="17567" y="8509"/>
                  </a:lnTo>
                  <a:lnTo>
                    <a:pt x="17567" y="1105789"/>
                  </a:lnTo>
                  <a:lnTo>
                    <a:pt x="8783" y="1105789"/>
                  </a:lnTo>
                  <a:lnTo>
                    <a:pt x="8783" y="1097280"/>
                  </a:lnTo>
                  <a:lnTo>
                    <a:pt x="6552980" y="1097280"/>
                  </a:lnTo>
                  <a:lnTo>
                    <a:pt x="6552980" y="1105789"/>
                  </a:lnTo>
                  <a:lnTo>
                    <a:pt x="6544196" y="1105789"/>
                  </a:lnTo>
                  <a:lnTo>
                    <a:pt x="6544196" y="8509"/>
                  </a:lnTo>
                  <a:lnTo>
                    <a:pt x="6552980" y="8509"/>
                  </a:lnTo>
                  <a:lnTo>
                    <a:pt x="6552980" y="17018"/>
                  </a:lnTo>
                  <a:lnTo>
                    <a:pt x="8783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344400" y="3291840"/>
            <a:ext cx="4914900" cy="822960"/>
            <a:chOff x="0" y="0"/>
            <a:chExt cx="655320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53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3255" b="-6258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65532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C(n,r) = n! / (r! × (n−r)!)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0" y="4242816"/>
            <a:ext cx="4937760" cy="2743200"/>
            <a:chOff x="0" y="0"/>
            <a:chExt cx="6583680" cy="3657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58368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61925"/>
              <a:ext cx="6583680" cy="3819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Counts unordered selections of r items from n. Calls factorial() three times. Order does NOT matter.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31520" y="7589520"/>
            <a:ext cx="16824960" cy="548640"/>
            <a:chOff x="0" y="0"/>
            <a:chExt cx="2243328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243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399" spc="533">
                  <a:solidFill>
                    <a:srgbClr val="D9D9D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ERROR HANDLING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22633" y="8220713"/>
            <a:ext cx="5504183" cy="1572263"/>
            <a:chOff x="0" y="0"/>
            <a:chExt cx="7338911" cy="209635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1811" y="11811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38822" cy="2096262"/>
            </a:xfrm>
            <a:custGeom>
              <a:avLst/>
              <a:gdLst/>
              <a:ahLst/>
              <a:cxnLst/>
              <a:rect r="r" b="b" t="t" l="l"/>
              <a:pathLst>
                <a:path h="2096262" w="7338822">
                  <a:moveTo>
                    <a:pt x="11811" y="0"/>
                  </a:moveTo>
                  <a:lnTo>
                    <a:pt x="7327011" y="0"/>
                  </a:lnTo>
                  <a:cubicBezTo>
                    <a:pt x="7333615" y="0"/>
                    <a:pt x="7338822" y="5334"/>
                    <a:pt x="7338822" y="11811"/>
                  </a:cubicBezTo>
                  <a:lnTo>
                    <a:pt x="7338822" y="2084451"/>
                  </a:lnTo>
                  <a:cubicBezTo>
                    <a:pt x="7338822" y="2091055"/>
                    <a:pt x="7333488" y="2096262"/>
                    <a:pt x="7327011" y="2096262"/>
                  </a:cubicBezTo>
                  <a:lnTo>
                    <a:pt x="11811" y="2096262"/>
                  </a:lnTo>
                  <a:cubicBezTo>
                    <a:pt x="5207" y="2096262"/>
                    <a:pt x="0" y="2090928"/>
                    <a:pt x="0" y="208445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084451"/>
                  </a:lnTo>
                  <a:lnTo>
                    <a:pt x="11811" y="2084451"/>
                  </a:lnTo>
                  <a:lnTo>
                    <a:pt x="11811" y="2072640"/>
                  </a:lnTo>
                  <a:lnTo>
                    <a:pt x="7327011" y="2072640"/>
                  </a:lnTo>
                  <a:lnTo>
                    <a:pt x="7327011" y="2084451"/>
                  </a:lnTo>
                  <a:lnTo>
                    <a:pt x="7315200" y="2084451"/>
                  </a:lnTo>
                  <a:lnTo>
                    <a:pt x="7315200" y="11811"/>
                  </a:lnTo>
                  <a:lnTo>
                    <a:pt x="7327011" y="11811"/>
                  </a:lnTo>
                  <a:lnTo>
                    <a:pt x="732701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50976" y="8375904"/>
            <a:ext cx="5047488" cy="1188720"/>
            <a:chOff x="0" y="0"/>
            <a:chExt cx="6729984" cy="15849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729984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6" r="0" b="-3273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6729984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Negative n → factorial() returns −1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483353" y="8220713"/>
            <a:ext cx="5504183" cy="1572263"/>
            <a:chOff x="0" y="0"/>
            <a:chExt cx="7338911" cy="209635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1811" y="11811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38822" cy="2096262"/>
            </a:xfrm>
            <a:custGeom>
              <a:avLst/>
              <a:gdLst/>
              <a:ahLst/>
              <a:cxnLst/>
              <a:rect r="r" b="b" t="t" l="l"/>
              <a:pathLst>
                <a:path h="2096262" w="7338822">
                  <a:moveTo>
                    <a:pt x="11811" y="0"/>
                  </a:moveTo>
                  <a:lnTo>
                    <a:pt x="7327011" y="0"/>
                  </a:lnTo>
                  <a:cubicBezTo>
                    <a:pt x="7333615" y="0"/>
                    <a:pt x="7338822" y="5334"/>
                    <a:pt x="7338822" y="11811"/>
                  </a:cubicBezTo>
                  <a:lnTo>
                    <a:pt x="7338822" y="2084451"/>
                  </a:lnTo>
                  <a:cubicBezTo>
                    <a:pt x="7338822" y="2091055"/>
                    <a:pt x="7333488" y="2096262"/>
                    <a:pt x="7327011" y="2096262"/>
                  </a:cubicBezTo>
                  <a:lnTo>
                    <a:pt x="11811" y="2096262"/>
                  </a:lnTo>
                  <a:cubicBezTo>
                    <a:pt x="5207" y="2096262"/>
                    <a:pt x="0" y="2090928"/>
                    <a:pt x="0" y="208445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084451"/>
                  </a:lnTo>
                  <a:lnTo>
                    <a:pt x="11811" y="2084451"/>
                  </a:lnTo>
                  <a:lnTo>
                    <a:pt x="11811" y="2072640"/>
                  </a:lnTo>
                  <a:lnTo>
                    <a:pt x="7327011" y="2072640"/>
                  </a:lnTo>
                  <a:lnTo>
                    <a:pt x="7327011" y="2084451"/>
                  </a:lnTo>
                  <a:lnTo>
                    <a:pt x="7315200" y="2084451"/>
                  </a:lnTo>
                  <a:lnTo>
                    <a:pt x="7315200" y="11811"/>
                  </a:lnTo>
                  <a:lnTo>
                    <a:pt x="7327011" y="11811"/>
                  </a:lnTo>
                  <a:lnTo>
                    <a:pt x="732701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711696" y="8375904"/>
            <a:ext cx="5047488" cy="1188720"/>
            <a:chOff x="0" y="0"/>
            <a:chExt cx="6729984" cy="1584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729984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6" r="0" b="-3273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6729984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r &lt; 0 or r &gt; n → error displayed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244073" y="8220713"/>
            <a:ext cx="5504183" cy="1572263"/>
            <a:chOff x="0" y="0"/>
            <a:chExt cx="7338911" cy="209635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1811" y="11811"/>
              <a:ext cx="7315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38822" cy="2096262"/>
            </a:xfrm>
            <a:custGeom>
              <a:avLst/>
              <a:gdLst/>
              <a:ahLst/>
              <a:cxnLst/>
              <a:rect r="r" b="b" t="t" l="l"/>
              <a:pathLst>
                <a:path h="2096262" w="7338822">
                  <a:moveTo>
                    <a:pt x="11811" y="0"/>
                  </a:moveTo>
                  <a:lnTo>
                    <a:pt x="7327011" y="0"/>
                  </a:lnTo>
                  <a:cubicBezTo>
                    <a:pt x="7333615" y="0"/>
                    <a:pt x="7338822" y="5334"/>
                    <a:pt x="7338822" y="11811"/>
                  </a:cubicBezTo>
                  <a:lnTo>
                    <a:pt x="7338822" y="2084451"/>
                  </a:lnTo>
                  <a:cubicBezTo>
                    <a:pt x="7338822" y="2091055"/>
                    <a:pt x="7333488" y="2096262"/>
                    <a:pt x="7327011" y="2096262"/>
                  </a:cubicBezTo>
                  <a:lnTo>
                    <a:pt x="11811" y="2096262"/>
                  </a:lnTo>
                  <a:cubicBezTo>
                    <a:pt x="5207" y="2096262"/>
                    <a:pt x="0" y="2090928"/>
                    <a:pt x="0" y="2084451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2084451"/>
                  </a:lnTo>
                  <a:lnTo>
                    <a:pt x="11811" y="2084451"/>
                  </a:lnTo>
                  <a:lnTo>
                    <a:pt x="11811" y="2072640"/>
                  </a:lnTo>
                  <a:lnTo>
                    <a:pt x="7327011" y="2072640"/>
                  </a:lnTo>
                  <a:lnTo>
                    <a:pt x="7327011" y="2084451"/>
                  </a:lnTo>
                  <a:lnTo>
                    <a:pt x="7315200" y="2084451"/>
                  </a:lnTo>
                  <a:lnTo>
                    <a:pt x="7315200" y="11811"/>
                  </a:lnTo>
                  <a:lnTo>
                    <a:pt x="7327011" y="11811"/>
                  </a:lnTo>
                  <a:lnTo>
                    <a:pt x="732701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472416" y="8375904"/>
            <a:ext cx="5047488" cy="1188720"/>
            <a:chOff x="0" y="0"/>
            <a:chExt cx="6729984" cy="15849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729984" cy="1584960"/>
            </a:xfrm>
            <a:custGeom>
              <a:avLst/>
              <a:gdLst/>
              <a:ahLst/>
              <a:cxnLst/>
              <a:rect r="r" b="b" t="t" l="l"/>
              <a:pathLst>
                <a:path h="1584960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36" r="0" b="-3273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6729984" cy="1642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n &lt; 0 for Perm/Comb → rejected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1887200" cy="914400"/>
            <a:chOff x="0" y="0"/>
            <a:chExt cx="15849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58496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Power &amp; Root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0" y="113385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Augustine Gomes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274320"/>
            <a:ext cx="6035040" cy="1097280"/>
            <a:chOff x="0" y="0"/>
            <a:chExt cx="80467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046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80467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xʸ  √x  ∛x  ⁿ√x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279647"/>
            <a:ext cx="8242297" cy="3143250"/>
            <a:chOff x="0" y="0"/>
            <a:chExt cx="10989729" cy="419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005"/>
              <a:ext cx="10972800" cy="4175073"/>
            </a:xfrm>
            <a:custGeom>
              <a:avLst/>
              <a:gdLst/>
              <a:ahLst/>
              <a:cxnLst/>
              <a:rect r="r" b="b" t="t" l="l"/>
              <a:pathLst>
                <a:path h="4175073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75073"/>
                  </a:lnTo>
                  <a:lnTo>
                    <a:pt x="0" y="4175073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9818" cy="4191089"/>
            </a:xfrm>
            <a:custGeom>
              <a:avLst/>
              <a:gdLst/>
              <a:ahLst/>
              <a:cxnLst/>
              <a:rect r="r" b="b" t="t" l="l"/>
              <a:pathLst>
                <a:path h="4191089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584"/>
                    <a:pt x="10989818" y="8005"/>
                  </a:cubicBezTo>
                  <a:lnTo>
                    <a:pt x="10989818" y="4183078"/>
                  </a:lnTo>
                  <a:cubicBezTo>
                    <a:pt x="10989818" y="4187499"/>
                    <a:pt x="10986008" y="4191089"/>
                    <a:pt x="10981309" y="4191089"/>
                  </a:cubicBezTo>
                  <a:lnTo>
                    <a:pt x="8509" y="4191089"/>
                  </a:lnTo>
                  <a:cubicBezTo>
                    <a:pt x="3810" y="4191089"/>
                    <a:pt x="0" y="4187499"/>
                    <a:pt x="0" y="4183078"/>
                  </a:cubicBezTo>
                  <a:lnTo>
                    <a:pt x="0" y="8005"/>
                  </a:lnTo>
                  <a:cubicBezTo>
                    <a:pt x="0" y="3584"/>
                    <a:pt x="3810" y="0"/>
                    <a:pt x="8509" y="0"/>
                  </a:cubicBezTo>
                  <a:moveTo>
                    <a:pt x="8509" y="15891"/>
                  </a:moveTo>
                  <a:lnTo>
                    <a:pt x="8509" y="8005"/>
                  </a:lnTo>
                  <a:lnTo>
                    <a:pt x="17018" y="8005"/>
                  </a:lnTo>
                  <a:lnTo>
                    <a:pt x="17018" y="4183078"/>
                  </a:lnTo>
                  <a:lnTo>
                    <a:pt x="8509" y="4183078"/>
                  </a:lnTo>
                  <a:lnTo>
                    <a:pt x="8509" y="4175073"/>
                  </a:lnTo>
                  <a:lnTo>
                    <a:pt x="10981309" y="4175073"/>
                  </a:lnTo>
                  <a:lnTo>
                    <a:pt x="10981309" y="4183078"/>
                  </a:lnTo>
                  <a:lnTo>
                    <a:pt x="10972800" y="4183078"/>
                  </a:lnTo>
                  <a:lnTo>
                    <a:pt x="10972800" y="8005"/>
                  </a:lnTo>
                  <a:lnTo>
                    <a:pt x="10981309" y="8005"/>
                  </a:lnTo>
                  <a:lnTo>
                    <a:pt x="10981309" y="16010"/>
                  </a:lnTo>
                  <a:lnTo>
                    <a:pt x="8509" y="1601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22633" y="2286000"/>
            <a:ext cx="118615" cy="3054096"/>
            <a:chOff x="0" y="0"/>
            <a:chExt cx="158153" cy="4072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153" cy="4072128"/>
            </a:xfrm>
            <a:custGeom>
              <a:avLst/>
              <a:gdLst/>
              <a:ahLst/>
              <a:cxnLst/>
              <a:rect r="r" b="b" t="t" l="l"/>
              <a:pathLst>
                <a:path h="4072128" w="158153">
                  <a:moveTo>
                    <a:pt x="0" y="0"/>
                  </a:moveTo>
                  <a:lnTo>
                    <a:pt x="158153" y="0"/>
                  </a:lnTo>
                  <a:lnTo>
                    <a:pt x="158153" y="4072128"/>
                  </a:lnTo>
                  <a:lnTo>
                    <a:pt x="0" y="407212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2505456"/>
            <a:ext cx="4572000" cy="731520"/>
            <a:chOff x="0" y="0"/>
            <a:chExt cx="6096000" cy="975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096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General Power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028687" y="2462527"/>
            <a:ext cx="2664457" cy="707641"/>
            <a:chOff x="0" y="0"/>
            <a:chExt cx="3552609" cy="9435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8509" y="8509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0D4AA">
                <a:alpha val="2000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52698" cy="943610"/>
            </a:xfrm>
            <a:custGeom>
              <a:avLst/>
              <a:gdLst/>
              <a:ahLst/>
              <a:cxnLst/>
              <a:rect r="r" b="b" t="t" l="l"/>
              <a:pathLst>
                <a:path h="943610" w="3552698">
                  <a:moveTo>
                    <a:pt x="8509" y="0"/>
                  </a:moveTo>
                  <a:lnTo>
                    <a:pt x="3544189" y="0"/>
                  </a:lnTo>
                  <a:cubicBezTo>
                    <a:pt x="3548888" y="0"/>
                    <a:pt x="3552698" y="3810"/>
                    <a:pt x="3552698" y="8509"/>
                  </a:cubicBezTo>
                  <a:lnTo>
                    <a:pt x="3552698" y="935101"/>
                  </a:lnTo>
                  <a:cubicBezTo>
                    <a:pt x="3552698" y="939800"/>
                    <a:pt x="3548888" y="943610"/>
                    <a:pt x="3544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3544189" y="926592"/>
                  </a:lnTo>
                  <a:lnTo>
                    <a:pt x="3544189" y="935101"/>
                  </a:lnTo>
                  <a:lnTo>
                    <a:pt x="3535680" y="935101"/>
                  </a:lnTo>
                  <a:lnTo>
                    <a:pt x="3535680" y="8509"/>
                  </a:lnTo>
                  <a:lnTo>
                    <a:pt x="3544189" y="8509"/>
                  </a:lnTo>
                  <a:lnTo>
                    <a:pt x="3544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035040" y="2468880"/>
            <a:ext cx="2651760" cy="694944"/>
            <a:chOff x="0" y="0"/>
            <a:chExt cx="353568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35356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x ^ 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5840" y="3236976"/>
            <a:ext cx="7863840" cy="585216"/>
            <a:chOff x="0" y="0"/>
            <a:chExt cx="10485120" cy="7802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4851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D4AA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Function: pow(x, y)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5840" y="3884676"/>
            <a:ext cx="7863840" cy="1371600"/>
            <a:chOff x="0" y="0"/>
            <a:chExt cx="10485120" cy="1828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485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enters base x and exponent y. Handles any real-valued exponentiation.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94847" y="2279647"/>
            <a:ext cx="8242297" cy="3143250"/>
            <a:chOff x="0" y="0"/>
            <a:chExt cx="10989729" cy="419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8005"/>
              <a:ext cx="10972800" cy="4175073"/>
            </a:xfrm>
            <a:custGeom>
              <a:avLst/>
              <a:gdLst/>
              <a:ahLst/>
              <a:cxnLst/>
              <a:rect r="r" b="b" t="t" l="l"/>
              <a:pathLst>
                <a:path h="4175073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175073"/>
                  </a:lnTo>
                  <a:lnTo>
                    <a:pt x="0" y="4175073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89818" cy="4191089"/>
            </a:xfrm>
            <a:custGeom>
              <a:avLst/>
              <a:gdLst/>
              <a:ahLst/>
              <a:cxnLst/>
              <a:rect r="r" b="b" t="t" l="l"/>
              <a:pathLst>
                <a:path h="4191089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584"/>
                    <a:pt x="10989818" y="8005"/>
                  </a:cubicBezTo>
                  <a:lnTo>
                    <a:pt x="10989818" y="4183078"/>
                  </a:lnTo>
                  <a:cubicBezTo>
                    <a:pt x="10989818" y="4187499"/>
                    <a:pt x="10986008" y="4191089"/>
                    <a:pt x="10981309" y="4191089"/>
                  </a:cubicBezTo>
                  <a:lnTo>
                    <a:pt x="8509" y="4191089"/>
                  </a:lnTo>
                  <a:cubicBezTo>
                    <a:pt x="3810" y="4191089"/>
                    <a:pt x="0" y="4187499"/>
                    <a:pt x="0" y="4183078"/>
                  </a:cubicBezTo>
                  <a:lnTo>
                    <a:pt x="0" y="8005"/>
                  </a:lnTo>
                  <a:cubicBezTo>
                    <a:pt x="0" y="3584"/>
                    <a:pt x="3810" y="0"/>
                    <a:pt x="8509" y="0"/>
                  </a:cubicBezTo>
                  <a:moveTo>
                    <a:pt x="8509" y="15891"/>
                  </a:moveTo>
                  <a:lnTo>
                    <a:pt x="8509" y="8005"/>
                  </a:lnTo>
                  <a:lnTo>
                    <a:pt x="17018" y="8005"/>
                  </a:lnTo>
                  <a:lnTo>
                    <a:pt x="17018" y="4183078"/>
                  </a:lnTo>
                  <a:lnTo>
                    <a:pt x="8509" y="4183078"/>
                  </a:lnTo>
                  <a:lnTo>
                    <a:pt x="8509" y="4175073"/>
                  </a:lnTo>
                  <a:lnTo>
                    <a:pt x="10981309" y="4175073"/>
                  </a:lnTo>
                  <a:lnTo>
                    <a:pt x="10981309" y="4183078"/>
                  </a:lnTo>
                  <a:lnTo>
                    <a:pt x="10972800" y="4183078"/>
                  </a:lnTo>
                  <a:lnTo>
                    <a:pt x="10972800" y="8005"/>
                  </a:lnTo>
                  <a:lnTo>
                    <a:pt x="10981309" y="8005"/>
                  </a:lnTo>
                  <a:lnTo>
                    <a:pt x="10981309" y="16010"/>
                  </a:lnTo>
                  <a:lnTo>
                    <a:pt x="8509" y="1601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94847" y="2286000"/>
            <a:ext cx="116081" cy="3054096"/>
            <a:chOff x="0" y="0"/>
            <a:chExt cx="154775" cy="4072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4775" cy="4072128"/>
            </a:xfrm>
            <a:custGeom>
              <a:avLst/>
              <a:gdLst/>
              <a:ahLst/>
              <a:cxnLst/>
              <a:rect r="r" b="b" t="t" l="l"/>
              <a:pathLst>
                <a:path h="4072128" w="154775">
                  <a:moveTo>
                    <a:pt x="0" y="0"/>
                  </a:moveTo>
                  <a:lnTo>
                    <a:pt x="154775" y="0"/>
                  </a:lnTo>
                  <a:lnTo>
                    <a:pt x="154775" y="4072128"/>
                  </a:lnTo>
                  <a:lnTo>
                    <a:pt x="0" y="407212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2505456"/>
            <a:ext cx="4572000" cy="731520"/>
            <a:chOff x="0" y="0"/>
            <a:chExt cx="60960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096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Square Root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898367" y="2462527"/>
            <a:ext cx="2664457" cy="707641"/>
            <a:chOff x="0" y="0"/>
            <a:chExt cx="3552609" cy="9435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8509" y="8509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4F9CF9">
                <a:alpha val="20000"/>
              </a:srgbClr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52698" cy="943610"/>
            </a:xfrm>
            <a:custGeom>
              <a:avLst/>
              <a:gdLst/>
              <a:ahLst/>
              <a:cxnLst/>
              <a:rect r="r" b="b" t="t" l="l"/>
              <a:pathLst>
                <a:path h="943610" w="3552698">
                  <a:moveTo>
                    <a:pt x="8509" y="0"/>
                  </a:moveTo>
                  <a:lnTo>
                    <a:pt x="3544189" y="0"/>
                  </a:lnTo>
                  <a:cubicBezTo>
                    <a:pt x="3548888" y="0"/>
                    <a:pt x="3552698" y="3810"/>
                    <a:pt x="3552698" y="8509"/>
                  </a:cubicBezTo>
                  <a:lnTo>
                    <a:pt x="3552698" y="935101"/>
                  </a:lnTo>
                  <a:cubicBezTo>
                    <a:pt x="3552698" y="939800"/>
                    <a:pt x="3548888" y="943610"/>
                    <a:pt x="3544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3544189" y="926592"/>
                  </a:lnTo>
                  <a:lnTo>
                    <a:pt x="3544189" y="935101"/>
                  </a:lnTo>
                  <a:lnTo>
                    <a:pt x="3535680" y="935101"/>
                  </a:lnTo>
                  <a:lnTo>
                    <a:pt x="3535680" y="8509"/>
                  </a:lnTo>
                  <a:lnTo>
                    <a:pt x="3544189" y="8509"/>
                  </a:lnTo>
                  <a:lnTo>
                    <a:pt x="3544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04720" y="2468880"/>
            <a:ext cx="2651760" cy="694944"/>
            <a:chOff x="0" y="0"/>
            <a:chExt cx="3535680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5356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√x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75520" y="3236976"/>
            <a:ext cx="7863840" cy="585216"/>
            <a:chOff x="0" y="0"/>
            <a:chExt cx="1048512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04851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4F9CF9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Function: sqrt(x)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75520" y="3884676"/>
            <a:ext cx="7863840" cy="1371600"/>
            <a:chOff x="0" y="0"/>
            <a:chExt cx="10485120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0485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x ≥ 0 before calling. Undefined for negative numbers.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25167" y="5737222"/>
            <a:ext cx="8242297" cy="3060449"/>
            <a:chOff x="0" y="0"/>
            <a:chExt cx="10989729" cy="408059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8509" y="7794"/>
              <a:ext cx="10972800" cy="4065092"/>
            </a:xfrm>
            <a:custGeom>
              <a:avLst/>
              <a:gdLst/>
              <a:ahLst/>
              <a:cxnLst/>
              <a:rect r="r" b="b" t="t" l="l"/>
              <a:pathLst>
                <a:path h="40650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65092"/>
                  </a:lnTo>
                  <a:lnTo>
                    <a:pt x="0" y="40650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89818" cy="4080688"/>
            </a:xfrm>
            <a:custGeom>
              <a:avLst/>
              <a:gdLst/>
              <a:ahLst/>
              <a:cxnLst/>
              <a:rect r="r" b="b" t="t" l="l"/>
              <a:pathLst>
                <a:path h="408068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490"/>
                    <a:pt x="10989818" y="7794"/>
                  </a:cubicBezTo>
                  <a:lnTo>
                    <a:pt x="10989818" y="4072886"/>
                  </a:lnTo>
                  <a:cubicBezTo>
                    <a:pt x="10989818" y="4077190"/>
                    <a:pt x="10986008" y="4080688"/>
                    <a:pt x="10981309" y="4080688"/>
                  </a:cubicBezTo>
                  <a:lnTo>
                    <a:pt x="8509" y="4080688"/>
                  </a:lnTo>
                  <a:cubicBezTo>
                    <a:pt x="3810" y="4080688"/>
                    <a:pt x="0" y="4077190"/>
                    <a:pt x="0" y="4072886"/>
                  </a:cubicBezTo>
                  <a:lnTo>
                    <a:pt x="0" y="7794"/>
                  </a:lnTo>
                  <a:cubicBezTo>
                    <a:pt x="0" y="3490"/>
                    <a:pt x="3810" y="0"/>
                    <a:pt x="8509" y="0"/>
                  </a:cubicBezTo>
                  <a:moveTo>
                    <a:pt x="8509" y="15472"/>
                  </a:moveTo>
                  <a:lnTo>
                    <a:pt x="8509" y="7794"/>
                  </a:lnTo>
                  <a:lnTo>
                    <a:pt x="17018" y="7794"/>
                  </a:lnTo>
                  <a:lnTo>
                    <a:pt x="17018" y="4072886"/>
                  </a:lnTo>
                  <a:lnTo>
                    <a:pt x="8509" y="4072886"/>
                  </a:lnTo>
                  <a:lnTo>
                    <a:pt x="8509" y="4065091"/>
                  </a:lnTo>
                  <a:lnTo>
                    <a:pt x="10981309" y="4065091"/>
                  </a:lnTo>
                  <a:lnTo>
                    <a:pt x="10981309" y="4072886"/>
                  </a:lnTo>
                  <a:lnTo>
                    <a:pt x="10972800" y="4072886"/>
                  </a:lnTo>
                  <a:lnTo>
                    <a:pt x="10972800" y="7794"/>
                  </a:lnTo>
                  <a:lnTo>
                    <a:pt x="10981309" y="7794"/>
                  </a:lnTo>
                  <a:lnTo>
                    <a:pt x="10981309" y="15588"/>
                  </a:lnTo>
                  <a:lnTo>
                    <a:pt x="8509" y="1558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86384" y="5743575"/>
            <a:ext cx="54864" cy="3054096"/>
            <a:chOff x="0" y="0"/>
            <a:chExt cx="73152" cy="4072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" cy="4072128"/>
            </a:xfrm>
            <a:custGeom>
              <a:avLst/>
              <a:gdLst/>
              <a:ahLst/>
              <a:cxnLst/>
              <a:rect r="r" b="b" t="t" l="l"/>
              <a:pathLst>
                <a:path h="4072128" w="73152">
                  <a:moveTo>
                    <a:pt x="0" y="0"/>
                  </a:moveTo>
                  <a:lnTo>
                    <a:pt x="73152" y="0"/>
                  </a:lnTo>
                  <a:lnTo>
                    <a:pt x="73152" y="4072128"/>
                  </a:lnTo>
                  <a:lnTo>
                    <a:pt x="0" y="4072128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5840" y="5963031"/>
            <a:ext cx="4572000" cy="731520"/>
            <a:chOff x="0" y="0"/>
            <a:chExt cx="6096000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096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Cube Root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028687" y="5920102"/>
            <a:ext cx="2664457" cy="707641"/>
            <a:chOff x="0" y="0"/>
            <a:chExt cx="3552609" cy="94352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78166">
                <a:alpha val="20000"/>
              </a:srgbClr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52698" cy="943610"/>
            </a:xfrm>
            <a:custGeom>
              <a:avLst/>
              <a:gdLst/>
              <a:ahLst/>
              <a:cxnLst/>
              <a:rect r="r" b="b" t="t" l="l"/>
              <a:pathLst>
                <a:path h="943610" w="3552698">
                  <a:moveTo>
                    <a:pt x="8509" y="0"/>
                  </a:moveTo>
                  <a:lnTo>
                    <a:pt x="3544189" y="0"/>
                  </a:lnTo>
                  <a:cubicBezTo>
                    <a:pt x="3548888" y="0"/>
                    <a:pt x="3552698" y="3810"/>
                    <a:pt x="3552698" y="8509"/>
                  </a:cubicBezTo>
                  <a:lnTo>
                    <a:pt x="3552698" y="935101"/>
                  </a:lnTo>
                  <a:cubicBezTo>
                    <a:pt x="3552698" y="939800"/>
                    <a:pt x="3548888" y="943610"/>
                    <a:pt x="3544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3544189" y="926592"/>
                  </a:lnTo>
                  <a:lnTo>
                    <a:pt x="3544189" y="935101"/>
                  </a:lnTo>
                  <a:lnTo>
                    <a:pt x="3535680" y="935101"/>
                  </a:lnTo>
                  <a:lnTo>
                    <a:pt x="3535680" y="8509"/>
                  </a:lnTo>
                  <a:lnTo>
                    <a:pt x="3544189" y="8509"/>
                  </a:lnTo>
                  <a:lnTo>
                    <a:pt x="3544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035040" y="5926455"/>
            <a:ext cx="2651760" cy="694944"/>
            <a:chOff x="0" y="0"/>
            <a:chExt cx="3535680" cy="9265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35356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∛x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05840" y="6694551"/>
            <a:ext cx="7863840" cy="585216"/>
            <a:chOff x="0" y="0"/>
            <a:chExt cx="10485120" cy="78028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04851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F78166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Function: cbrt(x)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05840" y="7294626"/>
            <a:ext cx="7863840" cy="1371600"/>
            <a:chOff x="0" y="0"/>
            <a:chExt cx="10485120" cy="1828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10485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Defined for negative reals. No domain restriction needed.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94847" y="5737222"/>
            <a:ext cx="8242297" cy="3060449"/>
            <a:chOff x="0" y="0"/>
            <a:chExt cx="10989729" cy="40805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8509" y="7794"/>
              <a:ext cx="10972800" cy="4065092"/>
            </a:xfrm>
            <a:custGeom>
              <a:avLst/>
              <a:gdLst/>
              <a:ahLst/>
              <a:cxnLst/>
              <a:rect r="r" b="b" t="t" l="l"/>
              <a:pathLst>
                <a:path h="406509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065092"/>
                  </a:lnTo>
                  <a:lnTo>
                    <a:pt x="0" y="406509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89818" cy="4080688"/>
            </a:xfrm>
            <a:custGeom>
              <a:avLst/>
              <a:gdLst/>
              <a:ahLst/>
              <a:cxnLst/>
              <a:rect r="r" b="b" t="t" l="l"/>
              <a:pathLst>
                <a:path h="408068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490"/>
                    <a:pt x="10989818" y="7794"/>
                  </a:cubicBezTo>
                  <a:lnTo>
                    <a:pt x="10989818" y="4072886"/>
                  </a:lnTo>
                  <a:cubicBezTo>
                    <a:pt x="10989818" y="4077190"/>
                    <a:pt x="10986008" y="4080688"/>
                    <a:pt x="10981309" y="4080688"/>
                  </a:cubicBezTo>
                  <a:lnTo>
                    <a:pt x="8509" y="4080688"/>
                  </a:lnTo>
                  <a:cubicBezTo>
                    <a:pt x="3810" y="4080688"/>
                    <a:pt x="0" y="4077190"/>
                    <a:pt x="0" y="4072886"/>
                  </a:cubicBezTo>
                  <a:lnTo>
                    <a:pt x="0" y="7794"/>
                  </a:lnTo>
                  <a:cubicBezTo>
                    <a:pt x="0" y="3490"/>
                    <a:pt x="3810" y="0"/>
                    <a:pt x="8509" y="0"/>
                  </a:cubicBezTo>
                  <a:moveTo>
                    <a:pt x="8509" y="15472"/>
                  </a:moveTo>
                  <a:lnTo>
                    <a:pt x="8509" y="7794"/>
                  </a:lnTo>
                  <a:lnTo>
                    <a:pt x="17018" y="7794"/>
                  </a:lnTo>
                  <a:lnTo>
                    <a:pt x="17018" y="4072886"/>
                  </a:lnTo>
                  <a:lnTo>
                    <a:pt x="8509" y="4072886"/>
                  </a:lnTo>
                  <a:lnTo>
                    <a:pt x="8509" y="4065091"/>
                  </a:lnTo>
                  <a:lnTo>
                    <a:pt x="10981309" y="4065091"/>
                  </a:lnTo>
                  <a:lnTo>
                    <a:pt x="10981309" y="4072886"/>
                  </a:lnTo>
                  <a:lnTo>
                    <a:pt x="10972800" y="4072886"/>
                  </a:lnTo>
                  <a:lnTo>
                    <a:pt x="10972800" y="7794"/>
                  </a:lnTo>
                  <a:lnTo>
                    <a:pt x="10981309" y="7794"/>
                  </a:lnTo>
                  <a:lnTo>
                    <a:pt x="10981309" y="15588"/>
                  </a:lnTo>
                  <a:lnTo>
                    <a:pt x="8509" y="15588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94847" y="5743575"/>
            <a:ext cx="116081" cy="3054096"/>
            <a:chOff x="0" y="0"/>
            <a:chExt cx="154775" cy="407212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54775" cy="4072128"/>
            </a:xfrm>
            <a:custGeom>
              <a:avLst/>
              <a:gdLst/>
              <a:ahLst/>
              <a:cxnLst/>
              <a:rect r="r" b="b" t="t" l="l"/>
              <a:pathLst>
                <a:path h="4072128" w="154775">
                  <a:moveTo>
                    <a:pt x="0" y="0"/>
                  </a:moveTo>
                  <a:lnTo>
                    <a:pt x="154775" y="0"/>
                  </a:lnTo>
                  <a:lnTo>
                    <a:pt x="154775" y="4072128"/>
                  </a:lnTo>
                  <a:lnTo>
                    <a:pt x="0" y="407212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875520" y="5963031"/>
            <a:ext cx="4572000" cy="731520"/>
            <a:chOff x="0" y="0"/>
            <a:chExt cx="6096000" cy="975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96000" cy="975360"/>
            </a:xfrm>
            <a:custGeom>
              <a:avLst/>
              <a:gdLst/>
              <a:ahLst/>
              <a:cxnLst/>
              <a:rect r="r" b="b" t="t" l="l"/>
              <a:pathLst>
                <a:path h="9753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60960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Nth Root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898367" y="5920102"/>
            <a:ext cx="2664457" cy="707641"/>
            <a:chOff x="0" y="0"/>
            <a:chExt cx="3552609" cy="94352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509" y="8509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A371F7">
                <a:alpha val="20000"/>
              </a:srgbClr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52698" cy="943610"/>
            </a:xfrm>
            <a:custGeom>
              <a:avLst/>
              <a:gdLst/>
              <a:ahLst/>
              <a:cxnLst/>
              <a:rect r="r" b="b" t="t" l="l"/>
              <a:pathLst>
                <a:path h="943610" w="3552698">
                  <a:moveTo>
                    <a:pt x="8509" y="0"/>
                  </a:moveTo>
                  <a:lnTo>
                    <a:pt x="3544189" y="0"/>
                  </a:lnTo>
                  <a:cubicBezTo>
                    <a:pt x="3548888" y="0"/>
                    <a:pt x="3552698" y="3810"/>
                    <a:pt x="3552698" y="8509"/>
                  </a:cubicBezTo>
                  <a:lnTo>
                    <a:pt x="3552698" y="935101"/>
                  </a:lnTo>
                  <a:cubicBezTo>
                    <a:pt x="3552698" y="939800"/>
                    <a:pt x="3548888" y="943610"/>
                    <a:pt x="3544189" y="943610"/>
                  </a:cubicBezTo>
                  <a:lnTo>
                    <a:pt x="8509" y="943610"/>
                  </a:lnTo>
                  <a:cubicBezTo>
                    <a:pt x="3810" y="943610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3544189" y="926592"/>
                  </a:lnTo>
                  <a:lnTo>
                    <a:pt x="3544189" y="935101"/>
                  </a:lnTo>
                  <a:lnTo>
                    <a:pt x="3535680" y="935101"/>
                  </a:lnTo>
                  <a:lnTo>
                    <a:pt x="3535680" y="8509"/>
                  </a:lnTo>
                  <a:lnTo>
                    <a:pt x="3544189" y="8509"/>
                  </a:lnTo>
                  <a:lnTo>
                    <a:pt x="354418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904720" y="5926455"/>
            <a:ext cx="2651760" cy="694944"/>
            <a:chOff x="0" y="0"/>
            <a:chExt cx="3535680" cy="926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35680" cy="926592"/>
            </a:xfrm>
            <a:custGeom>
              <a:avLst/>
              <a:gdLst/>
              <a:ahLst/>
              <a:cxnLst/>
              <a:rect r="r" b="b" t="t" l="l"/>
              <a:pathLst>
                <a:path h="926592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0" r="0" b="-2435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353568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x^(1/n)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875520" y="6694551"/>
            <a:ext cx="7863840" cy="585216"/>
            <a:chOff x="0" y="0"/>
            <a:chExt cx="10485120" cy="78028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485120" cy="780288"/>
            </a:xfrm>
            <a:custGeom>
              <a:avLst/>
              <a:gdLst/>
              <a:ahLst/>
              <a:cxnLst/>
              <a:rect r="r" b="b" t="t" l="l"/>
              <a:pathLst>
                <a:path h="7802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1048512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A371F7"/>
                  </a:solidFill>
                  <a:latin typeface="Consolas Italics"/>
                  <a:ea typeface="Consolas Italics"/>
                  <a:cs typeface="Consolas Italics"/>
                  <a:sym typeface="Consolas Italics"/>
                </a:rPr>
                <a:t>Function: pow(a, 1.0/b)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875520" y="7294626"/>
            <a:ext cx="7863840" cy="1371600"/>
            <a:chOff x="0" y="0"/>
            <a:chExt cx="10485120" cy="1828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85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714" r="0" b="-6171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10485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root. Ensures floating-point division via 1.0/b.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3045451" y="8981759"/>
            <a:ext cx="3488565" cy="1048134"/>
            <a:chOff x="0" y="0"/>
            <a:chExt cx="4651420" cy="13975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2446" y="26063"/>
              <a:ext cx="4646509" cy="1345190"/>
            </a:xfrm>
            <a:custGeom>
              <a:avLst/>
              <a:gdLst/>
              <a:ahLst/>
              <a:cxnLst/>
              <a:rect r="r" b="b" t="t" l="l"/>
              <a:pathLst>
                <a:path h="1345190" w="4646509">
                  <a:moveTo>
                    <a:pt x="0" y="0"/>
                  </a:moveTo>
                  <a:lnTo>
                    <a:pt x="4646509" y="0"/>
                  </a:lnTo>
                  <a:lnTo>
                    <a:pt x="4646509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651401" cy="1397316"/>
            </a:xfrm>
            <a:custGeom>
              <a:avLst/>
              <a:gdLst/>
              <a:ahLst/>
              <a:cxnLst/>
              <a:rect r="r" b="b" t="t" l="l"/>
              <a:pathLst>
                <a:path h="1397316" w="4651401">
                  <a:moveTo>
                    <a:pt x="2446" y="0"/>
                  </a:moveTo>
                  <a:lnTo>
                    <a:pt x="4648955" y="0"/>
                  </a:lnTo>
                  <a:cubicBezTo>
                    <a:pt x="4650323" y="0"/>
                    <a:pt x="4651401" y="11770"/>
                    <a:pt x="4651401" y="26063"/>
                  </a:cubicBezTo>
                  <a:lnTo>
                    <a:pt x="4651401" y="1371253"/>
                  </a:lnTo>
                  <a:cubicBezTo>
                    <a:pt x="4651401" y="1385826"/>
                    <a:pt x="4650297" y="1397316"/>
                    <a:pt x="4648955" y="1397316"/>
                  </a:cubicBezTo>
                  <a:lnTo>
                    <a:pt x="2446" y="1397316"/>
                  </a:lnTo>
                  <a:cubicBezTo>
                    <a:pt x="1079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105" y="0"/>
                    <a:pt x="2446" y="0"/>
                  </a:cubicBezTo>
                  <a:moveTo>
                    <a:pt x="2446" y="52406"/>
                  </a:moveTo>
                  <a:lnTo>
                    <a:pt x="2446" y="26063"/>
                  </a:lnTo>
                  <a:lnTo>
                    <a:pt x="4893" y="26063"/>
                  </a:lnTo>
                  <a:lnTo>
                    <a:pt x="4893" y="1371253"/>
                  </a:lnTo>
                  <a:lnTo>
                    <a:pt x="2446" y="1371253"/>
                  </a:lnTo>
                  <a:lnTo>
                    <a:pt x="2446" y="1345190"/>
                  </a:lnTo>
                  <a:lnTo>
                    <a:pt x="4648955" y="1345190"/>
                  </a:lnTo>
                  <a:lnTo>
                    <a:pt x="4648955" y="1371253"/>
                  </a:lnTo>
                  <a:lnTo>
                    <a:pt x="4646509" y="1371253"/>
                  </a:lnTo>
                  <a:lnTo>
                    <a:pt x="4646509" y="26063"/>
                  </a:lnTo>
                  <a:lnTo>
                    <a:pt x="4648955" y="26063"/>
                  </a:lnTo>
                  <a:lnTo>
                    <a:pt x="4648955" y="52126"/>
                  </a:lnTo>
                  <a:lnTo>
                    <a:pt x="2446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890985" y="8618094"/>
            <a:ext cx="2104730" cy="1775463"/>
            <a:chOff x="0" y="0"/>
            <a:chExt cx="2837873" cy="239391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837873" cy="2393913"/>
            </a:xfrm>
            <a:custGeom>
              <a:avLst/>
              <a:gdLst/>
              <a:ahLst/>
              <a:cxnLst/>
              <a:rect r="r" b="b" t="t" l="l"/>
              <a:pathLst>
                <a:path h="2393913" w="2837873">
                  <a:moveTo>
                    <a:pt x="0" y="0"/>
                  </a:moveTo>
                  <a:lnTo>
                    <a:pt x="2837873" y="0"/>
                  </a:lnTo>
                  <a:lnTo>
                    <a:pt x="2837873" y="2393913"/>
                  </a:lnTo>
                  <a:lnTo>
                    <a:pt x="0" y="2393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891" r="-673311" b="-91356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66675"/>
              <a:ext cx="2837873" cy="246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Errors: 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3235253" y="8981759"/>
            <a:ext cx="3733585" cy="1048134"/>
            <a:chOff x="0" y="0"/>
            <a:chExt cx="5034111" cy="141323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034111" cy="1413233"/>
            </a:xfrm>
            <a:custGeom>
              <a:avLst/>
              <a:gdLst/>
              <a:ahLst/>
              <a:cxnLst/>
              <a:rect r="r" b="b" t="t" l="l"/>
              <a:pathLst>
                <a:path h="1413233" w="5034111">
                  <a:moveTo>
                    <a:pt x="0" y="0"/>
                  </a:moveTo>
                  <a:lnTo>
                    <a:pt x="5034111" y="0"/>
                  </a:lnTo>
                  <a:lnTo>
                    <a:pt x="5034111" y="1413233"/>
                  </a:lnTo>
                  <a:lnTo>
                    <a:pt x="0" y="141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08" r="-335937" b="-22414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5034111" cy="147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sqrt(negative) rejected 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851078" y="8981759"/>
            <a:ext cx="5036122" cy="1048134"/>
            <a:chOff x="0" y="0"/>
            <a:chExt cx="6714830" cy="139751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3532" y="26063"/>
              <a:ext cx="6707740" cy="1345190"/>
            </a:xfrm>
            <a:custGeom>
              <a:avLst/>
              <a:gdLst/>
              <a:ahLst/>
              <a:cxnLst/>
              <a:rect r="r" b="b" t="t" l="l"/>
              <a:pathLst>
                <a:path h="1345190" w="6707740">
                  <a:moveTo>
                    <a:pt x="0" y="0"/>
                  </a:moveTo>
                  <a:lnTo>
                    <a:pt x="6707740" y="0"/>
                  </a:lnTo>
                  <a:lnTo>
                    <a:pt x="6707740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714803" cy="1397316"/>
            </a:xfrm>
            <a:custGeom>
              <a:avLst/>
              <a:gdLst/>
              <a:ahLst/>
              <a:cxnLst/>
              <a:rect r="r" b="b" t="t" l="l"/>
              <a:pathLst>
                <a:path h="1397316" w="6714803">
                  <a:moveTo>
                    <a:pt x="3532" y="0"/>
                  </a:moveTo>
                  <a:lnTo>
                    <a:pt x="6711272" y="0"/>
                  </a:lnTo>
                  <a:cubicBezTo>
                    <a:pt x="6713246" y="0"/>
                    <a:pt x="6714803" y="11770"/>
                    <a:pt x="6714803" y="26063"/>
                  </a:cubicBezTo>
                  <a:lnTo>
                    <a:pt x="6714803" y="1371253"/>
                  </a:lnTo>
                  <a:cubicBezTo>
                    <a:pt x="6714803" y="1385826"/>
                    <a:pt x="6713209" y="1397316"/>
                    <a:pt x="6711272" y="1397316"/>
                  </a:cubicBezTo>
                  <a:lnTo>
                    <a:pt x="3532" y="1397316"/>
                  </a:lnTo>
                  <a:cubicBezTo>
                    <a:pt x="1557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595" y="0"/>
                    <a:pt x="3532" y="0"/>
                  </a:cubicBezTo>
                  <a:moveTo>
                    <a:pt x="3532" y="52406"/>
                  </a:moveTo>
                  <a:lnTo>
                    <a:pt x="3532" y="26063"/>
                  </a:lnTo>
                  <a:lnTo>
                    <a:pt x="7063" y="26063"/>
                  </a:lnTo>
                  <a:lnTo>
                    <a:pt x="7063" y="1371253"/>
                  </a:lnTo>
                  <a:lnTo>
                    <a:pt x="3532" y="1371253"/>
                  </a:lnTo>
                  <a:lnTo>
                    <a:pt x="3532" y="1345190"/>
                  </a:lnTo>
                  <a:lnTo>
                    <a:pt x="6711272" y="1345190"/>
                  </a:lnTo>
                  <a:lnTo>
                    <a:pt x="6711272" y="1371253"/>
                  </a:lnTo>
                  <a:lnTo>
                    <a:pt x="6707740" y="1371253"/>
                  </a:lnTo>
                  <a:lnTo>
                    <a:pt x="6707740" y="26063"/>
                  </a:lnTo>
                  <a:lnTo>
                    <a:pt x="6711272" y="26063"/>
                  </a:lnTo>
                  <a:lnTo>
                    <a:pt x="6711272" y="52126"/>
                  </a:lnTo>
                  <a:lnTo>
                    <a:pt x="3532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7083139" y="8981759"/>
            <a:ext cx="4572000" cy="1048134"/>
            <a:chOff x="0" y="0"/>
            <a:chExt cx="6164571" cy="141323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164571" cy="1413233"/>
            </a:xfrm>
            <a:custGeom>
              <a:avLst/>
              <a:gdLst/>
              <a:ahLst/>
              <a:cxnLst/>
              <a:rect r="r" b="b" t="t" l="l"/>
              <a:pathLst>
                <a:path h="1413233" w="6164571">
                  <a:moveTo>
                    <a:pt x="0" y="0"/>
                  </a:moveTo>
                  <a:lnTo>
                    <a:pt x="6164571" y="0"/>
                  </a:lnTo>
                  <a:lnTo>
                    <a:pt x="6164571" y="1413233"/>
                  </a:lnTo>
                  <a:lnTo>
                    <a:pt x="0" y="141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08" r="-255995" b="-22414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57150"/>
              <a:ext cx="6164571" cy="147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nth-</a:t>
              </a:r>
              <a:r>
                <a:rPr lang="en-US" sz="26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root of negative with even degree rejected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223178" y="8981759"/>
            <a:ext cx="5036122" cy="1048134"/>
            <a:chOff x="0" y="0"/>
            <a:chExt cx="6714830" cy="139751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3532" y="26063"/>
              <a:ext cx="6707740" cy="1345190"/>
            </a:xfrm>
            <a:custGeom>
              <a:avLst/>
              <a:gdLst/>
              <a:ahLst/>
              <a:cxnLst/>
              <a:rect r="r" b="b" t="t" l="l"/>
              <a:pathLst>
                <a:path h="1345190" w="6707740">
                  <a:moveTo>
                    <a:pt x="0" y="0"/>
                  </a:moveTo>
                  <a:lnTo>
                    <a:pt x="6707740" y="0"/>
                  </a:lnTo>
                  <a:lnTo>
                    <a:pt x="6707740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14803" cy="1397316"/>
            </a:xfrm>
            <a:custGeom>
              <a:avLst/>
              <a:gdLst/>
              <a:ahLst/>
              <a:cxnLst/>
              <a:rect r="r" b="b" t="t" l="l"/>
              <a:pathLst>
                <a:path h="1397316" w="6714803">
                  <a:moveTo>
                    <a:pt x="3532" y="0"/>
                  </a:moveTo>
                  <a:lnTo>
                    <a:pt x="6711272" y="0"/>
                  </a:lnTo>
                  <a:cubicBezTo>
                    <a:pt x="6713246" y="0"/>
                    <a:pt x="6714803" y="11770"/>
                    <a:pt x="6714803" y="26063"/>
                  </a:cubicBezTo>
                  <a:lnTo>
                    <a:pt x="6714803" y="1371253"/>
                  </a:lnTo>
                  <a:cubicBezTo>
                    <a:pt x="6714803" y="1385826"/>
                    <a:pt x="6713209" y="1397316"/>
                    <a:pt x="6711272" y="1397316"/>
                  </a:cubicBezTo>
                  <a:lnTo>
                    <a:pt x="3532" y="1397316"/>
                  </a:lnTo>
                  <a:cubicBezTo>
                    <a:pt x="1557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595" y="0"/>
                    <a:pt x="3532" y="0"/>
                  </a:cubicBezTo>
                  <a:moveTo>
                    <a:pt x="3532" y="52406"/>
                  </a:moveTo>
                  <a:lnTo>
                    <a:pt x="3532" y="26063"/>
                  </a:lnTo>
                  <a:lnTo>
                    <a:pt x="7063" y="26063"/>
                  </a:lnTo>
                  <a:lnTo>
                    <a:pt x="7063" y="1371253"/>
                  </a:lnTo>
                  <a:lnTo>
                    <a:pt x="3532" y="1371253"/>
                  </a:lnTo>
                  <a:lnTo>
                    <a:pt x="3532" y="1345190"/>
                  </a:lnTo>
                  <a:lnTo>
                    <a:pt x="6711272" y="1345190"/>
                  </a:lnTo>
                  <a:lnTo>
                    <a:pt x="6711272" y="1371253"/>
                  </a:lnTo>
                  <a:lnTo>
                    <a:pt x="6707740" y="1371253"/>
                  </a:lnTo>
                  <a:lnTo>
                    <a:pt x="6707740" y="26063"/>
                  </a:lnTo>
                  <a:lnTo>
                    <a:pt x="6711272" y="26063"/>
                  </a:lnTo>
                  <a:lnTo>
                    <a:pt x="6711272" y="52126"/>
                  </a:lnTo>
                  <a:lnTo>
                    <a:pt x="3532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455239" y="8981759"/>
            <a:ext cx="4572000" cy="1048134"/>
            <a:chOff x="0" y="0"/>
            <a:chExt cx="6164571" cy="141323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164571" cy="1413233"/>
            </a:xfrm>
            <a:custGeom>
              <a:avLst/>
              <a:gdLst/>
              <a:ahLst/>
              <a:cxnLst/>
              <a:rect r="r" b="b" t="t" l="l"/>
              <a:pathLst>
                <a:path h="1413233" w="6164571">
                  <a:moveTo>
                    <a:pt x="0" y="0"/>
                  </a:moveTo>
                  <a:lnTo>
                    <a:pt x="6164571" y="0"/>
                  </a:lnTo>
                  <a:lnTo>
                    <a:pt x="6164571" y="1413233"/>
                  </a:lnTo>
                  <a:lnTo>
                    <a:pt x="0" y="141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08" r="-255995" b="-224144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57150"/>
              <a:ext cx="6164571" cy="147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n=0 causes division by zero → blocked: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037083"/>
            <a:chOff x="0" y="0"/>
            <a:chExt cx="24417871" cy="2716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2682240"/>
            </a:xfrm>
            <a:custGeom>
              <a:avLst/>
              <a:gdLst/>
              <a:ahLst/>
              <a:cxnLst/>
              <a:rect r="r" b="b" t="t" l="l"/>
              <a:pathLst>
                <a:path h="268224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28016"/>
            <a:chOff x="0" y="0"/>
            <a:chExt cx="24384000" cy="170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70688"/>
            </a:xfrm>
            <a:custGeom>
              <a:avLst/>
              <a:gdLst/>
              <a:ahLst/>
              <a:cxnLst/>
              <a:rect r="r" b="b" t="t" l="l"/>
              <a:pathLst>
                <a:path h="170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"/>
                  </a:lnTo>
                  <a:lnTo>
                    <a:pt x="0" y="170688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8640" y="219456"/>
            <a:ext cx="1097280" cy="1371600"/>
            <a:chOff x="0" y="0"/>
            <a:chExt cx="14630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463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28800" y="219456"/>
            <a:ext cx="11887200" cy="914400"/>
            <a:chOff x="0" y="0"/>
            <a:chExt cx="1584960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584960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Matrix Operations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28800" y="1133856"/>
            <a:ext cx="9144000" cy="640080"/>
            <a:chOff x="0" y="0"/>
            <a:chExt cx="121920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1920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Augustine Gomes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0" y="274320"/>
            <a:ext cx="4206240" cy="1097280"/>
            <a:chOff x="0" y="0"/>
            <a:chExt cx="56083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83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6083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320"/>
                </a:lnSpc>
              </a:pPr>
              <a:r>
                <a:rPr lang="en-US" sz="3600" b="true">
                  <a:solidFill>
                    <a:srgbClr val="4F9CF9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A+B  A×B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5167" y="2279647"/>
            <a:ext cx="8242297" cy="6338573"/>
            <a:chOff x="0" y="0"/>
            <a:chExt cx="10989729" cy="84514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7181"/>
              <a:ext cx="10972800" cy="8437144"/>
            </a:xfrm>
            <a:custGeom>
              <a:avLst/>
              <a:gdLst/>
              <a:ahLst/>
              <a:cxnLst/>
              <a:rect r="r" b="b" t="t" l="l"/>
              <a:pathLst>
                <a:path h="843714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437144"/>
                  </a:lnTo>
                  <a:lnTo>
                    <a:pt x="0" y="8437144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89818" cy="8451521"/>
            </a:xfrm>
            <a:custGeom>
              <a:avLst/>
              <a:gdLst/>
              <a:ahLst/>
              <a:cxnLst/>
              <a:rect r="r" b="b" t="t" l="l"/>
              <a:pathLst>
                <a:path h="8451521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215"/>
                    <a:pt x="10989818" y="7181"/>
                  </a:cubicBezTo>
                  <a:lnTo>
                    <a:pt x="10989818" y="8444325"/>
                  </a:lnTo>
                  <a:cubicBezTo>
                    <a:pt x="10989818" y="8448291"/>
                    <a:pt x="10986008" y="8451521"/>
                    <a:pt x="10981309" y="8451521"/>
                  </a:cubicBezTo>
                  <a:lnTo>
                    <a:pt x="8509" y="8451521"/>
                  </a:lnTo>
                  <a:cubicBezTo>
                    <a:pt x="3810" y="8451521"/>
                    <a:pt x="0" y="8448291"/>
                    <a:pt x="0" y="8444325"/>
                  </a:cubicBezTo>
                  <a:lnTo>
                    <a:pt x="0" y="7181"/>
                  </a:lnTo>
                  <a:cubicBezTo>
                    <a:pt x="0" y="3215"/>
                    <a:pt x="3810" y="0"/>
                    <a:pt x="8509" y="0"/>
                  </a:cubicBezTo>
                  <a:moveTo>
                    <a:pt x="8509" y="14255"/>
                  </a:moveTo>
                  <a:lnTo>
                    <a:pt x="8509" y="7181"/>
                  </a:lnTo>
                  <a:lnTo>
                    <a:pt x="17018" y="7181"/>
                  </a:lnTo>
                  <a:lnTo>
                    <a:pt x="17018" y="8444325"/>
                  </a:lnTo>
                  <a:lnTo>
                    <a:pt x="8509" y="8444325"/>
                  </a:lnTo>
                  <a:lnTo>
                    <a:pt x="8509" y="8437144"/>
                  </a:lnTo>
                  <a:lnTo>
                    <a:pt x="10981309" y="8437144"/>
                  </a:lnTo>
                  <a:lnTo>
                    <a:pt x="10981309" y="8444325"/>
                  </a:lnTo>
                  <a:lnTo>
                    <a:pt x="10972800" y="8444325"/>
                  </a:lnTo>
                  <a:lnTo>
                    <a:pt x="10972800" y="7181"/>
                  </a:lnTo>
                  <a:lnTo>
                    <a:pt x="10981309" y="7181"/>
                  </a:lnTo>
                  <a:lnTo>
                    <a:pt x="10981309" y="14362"/>
                  </a:lnTo>
                  <a:lnTo>
                    <a:pt x="8509" y="14362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25167" y="2286000"/>
            <a:ext cx="116081" cy="6332220"/>
            <a:chOff x="0" y="0"/>
            <a:chExt cx="154775" cy="844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4775" cy="8442960"/>
            </a:xfrm>
            <a:custGeom>
              <a:avLst/>
              <a:gdLst/>
              <a:ahLst/>
              <a:cxnLst/>
              <a:rect r="r" b="b" t="t" l="l"/>
              <a:pathLst>
                <a:path h="8442960" w="154775">
                  <a:moveTo>
                    <a:pt x="0" y="0"/>
                  </a:moveTo>
                  <a:lnTo>
                    <a:pt x="154775" y="0"/>
                  </a:lnTo>
                  <a:lnTo>
                    <a:pt x="154775" y="8442960"/>
                  </a:lnTo>
                  <a:lnTo>
                    <a:pt x="0" y="844296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2446025"/>
            <a:ext cx="7498080" cy="822960"/>
            <a:chOff x="0" y="0"/>
            <a:chExt cx="99974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00D4A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Matrix Addition  A + 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03624" y="3268985"/>
            <a:ext cx="7498080" cy="629917"/>
            <a:chOff x="0" y="0"/>
            <a:chExt cx="9997440" cy="83988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97440" cy="839889"/>
            </a:xfrm>
            <a:custGeom>
              <a:avLst/>
              <a:gdLst/>
              <a:ahLst/>
              <a:cxnLst/>
              <a:rect r="r" b="b" t="t" l="l"/>
              <a:pathLst>
                <a:path h="839889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39889"/>
                  </a:lnTo>
                  <a:lnTo>
                    <a:pt x="0" y="8398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129" r="0" b="-18274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997440" cy="887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Requires identical dimensions: m = p and n = q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0927" y="4053583"/>
            <a:ext cx="7510777" cy="835657"/>
            <a:chOff x="0" y="0"/>
            <a:chExt cx="10014369" cy="11142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8509" y="8509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0D4AA">
                <a:alpha val="5882"/>
              </a:srgbClr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14458" cy="1114298"/>
            </a:xfrm>
            <a:custGeom>
              <a:avLst/>
              <a:gdLst/>
              <a:ahLst/>
              <a:cxnLst/>
              <a:rect r="r" b="b" t="t" l="l"/>
              <a:pathLst>
                <a:path h="1114298" w="10014458">
                  <a:moveTo>
                    <a:pt x="8509" y="0"/>
                  </a:moveTo>
                  <a:lnTo>
                    <a:pt x="10005949" y="0"/>
                  </a:lnTo>
                  <a:cubicBezTo>
                    <a:pt x="10010648" y="0"/>
                    <a:pt x="10014458" y="3810"/>
                    <a:pt x="10014458" y="8509"/>
                  </a:cubicBezTo>
                  <a:lnTo>
                    <a:pt x="10014458" y="1105789"/>
                  </a:lnTo>
                  <a:cubicBezTo>
                    <a:pt x="10014458" y="1110488"/>
                    <a:pt x="10010648" y="1114298"/>
                    <a:pt x="1000594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10005949" y="1097280"/>
                  </a:lnTo>
                  <a:lnTo>
                    <a:pt x="10005949" y="1105789"/>
                  </a:lnTo>
                  <a:lnTo>
                    <a:pt x="9997440" y="1105789"/>
                  </a:lnTo>
                  <a:lnTo>
                    <a:pt x="9997440" y="8509"/>
                  </a:lnTo>
                  <a:lnTo>
                    <a:pt x="10005949" y="8509"/>
                  </a:lnTo>
                  <a:lnTo>
                    <a:pt x="10005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4059936"/>
            <a:ext cx="7498080" cy="822960"/>
            <a:chOff x="0" y="0"/>
            <a:chExt cx="999744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99974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C[i][j]  =  A[i][j] + B[i][j]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5143500"/>
            <a:ext cx="7504424" cy="3474720"/>
            <a:chOff x="0" y="0"/>
            <a:chExt cx="10005898" cy="4632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05899" cy="4632960"/>
            </a:xfrm>
            <a:custGeom>
              <a:avLst/>
              <a:gdLst/>
              <a:ahLst/>
              <a:cxnLst/>
              <a:rect r="r" b="b" t="t" l="l"/>
              <a:pathLst>
                <a:path h="4632960" w="10005899">
                  <a:moveTo>
                    <a:pt x="0" y="0"/>
                  </a:moveTo>
                  <a:lnTo>
                    <a:pt x="10005899" y="0"/>
                  </a:lnTo>
                  <a:lnTo>
                    <a:pt x="10005899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449" t="0" r="-936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09550"/>
              <a:ext cx="10005898" cy="484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5"/>
                </a:lnSpc>
              </a:pPr>
              <a:r>
                <a:rPr lang="en-US" sz="28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readMatrix() prompts element-by-element: A[1][1], A[1][2]...</a:t>
              </a:r>
            </a:p>
            <a:p>
              <a:pPr algn="l">
                <a:lnSpc>
                  <a:spcPts val="5045"/>
                </a:lnSpc>
              </a:pPr>
              <a:r>
                <a:rPr lang="en-US" sz="28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printMatrix() displays formatted grid with | delimiters</a:t>
              </a:r>
            </a:p>
            <a:p>
              <a:pPr algn="l">
                <a:lnSpc>
                  <a:spcPts val="5045"/>
                </a:lnSpc>
              </a:pPr>
              <a:r>
                <a:rPr lang="en-US" sz="28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2D array type: double[10][10]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503407" y="2279647"/>
            <a:ext cx="8150857" cy="6338573"/>
            <a:chOff x="0" y="0"/>
            <a:chExt cx="10867809" cy="84514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8509" y="7181"/>
              <a:ext cx="10850880" cy="8437144"/>
            </a:xfrm>
            <a:custGeom>
              <a:avLst/>
              <a:gdLst/>
              <a:ahLst/>
              <a:cxnLst/>
              <a:rect r="r" b="b" t="t" l="l"/>
              <a:pathLst>
                <a:path h="8437144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8437144"/>
                  </a:lnTo>
                  <a:lnTo>
                    <a:pt x="0" y="8437144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67899" cy="8451521"/>
            </a:xfrm>
            <a:custGeom>
              <a:avLst/>
              <a:gdLst/>
              <a:ahLst/>
              <a:cxnLst/>
              <a:rect r="r" b="b" t="t" l="l"/>
              <a:pathLst>
                <a:path h="8451521" w="10867899">
                  <a:moveTo>
                    <a:pt x="8509" y="0"/>
                  </a:moveTo>
                  <a:lnTo>
                    <a:pt x="10859389" y="0"/>
                  </a:lnTo>
                  <a:cubicBezTo>
                    <a:pt x="10864088" y="0"/>
                    <a:pt x="10867899" y="3215"/>
                    <a:pt x="10867899" y="7181"/>
                  </a:cubicBezTo>
                  <a:lnTo>
                    <a:pt x="10867899" y="8444325"/>
                  </a:lnTo>
                  <a:cubicBezTo>
                    <a:pt x="10867899" y="8448291"/>
                    <a:pt x="10864088" y="8451521"/>
                    <a:pt x="10859389" y="8451521"/>
                  </a:cubicBezTo>
                  <a:lnTo>
                    <a:pt x="8509" y="8451521"/>
                  </a:lnTo>
                  <a:cubicBezTo>
                    <a:pt x="3810" y="8451521"/>
                    <a:pt x="0" y="8448291"/>
                    <a:pt x="0" y="8444325"/>
                  </a:cubicBezTo>
                  <a:lnTo>
                    <a:pt x="0" y="7181"/>
                  </a:lnTo>
                  <a:cubicBezTo>
                    <a:pt x="0" y="3215"/>
                    <a:pt x="3810" y="0"/>
                    <a:pt x="8509" y="0"/>
                  </a:cubicBezTo>
                  <a:moveTo>
                    <a:pt x="8509" y="14255"/>
                  </a:moveTo>
                  <a:lnTo>
                    <a:pt x="8509" y="7181"/>
                  </a:lnTo>
                  <a:lnTo>
                    <a:pt x="17018" y="7181"/>
                  </a:lnTo>
                  <a:lnTo>
                    <a:pt x="17018" y="8444325"/>
                  </a:lnTo>
                  <a:lnTo>
                    <a:pt x="8509" y="8444325"/>
                  </a:lnTo>
                  <a:lnTo>
                    <a:pt x="8509" y="8437144"/>
                  </a:lnTo>
                  <a:lnTo>
                    <a:pt x="10859389" y="8437144"/>
                  </a:lnTo>
                  <a:lnTo>
                    <a:pt x="10859389" y="8444325"/>
                  </a:lnTo>
                  <a:lnTo>
                    <a:pt x="10850880" y="8444325"/>
                  </a:lnTo>
                  <a:lnTo>
                    <a:pt x="10850880" y="7181"/>
                  </a:lnTo>
                  <a:lnTo>
                    <a:pt x="10859389" y="7181"/>
                  </a:lnTo>
                  <a:lnTo>
                    <a:pt x="10859389" y="14362"/>
                  </a:lnTo>
                  <a:lnTo>
                    <a:pt x="8509" y="14362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03407" y="2286000"/>
            <a:ext cx="116081" cy="6332220"/>
            <a:chOff x="0" y="0"/>
            <a:chExt cx="154775" cy="84429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4775" cy="8442960"/>
            </a:xfrm>
            <a:custGeom>
              <a:avLst/>
              <a:gdLst/>
              <a:ahLst/>
              <a:cxnLst/>
              <a:rect r="r" b="b" t="t" l="l"/>
              <a:pathLst>
                <a:path h="8442960" w="154775">
                  <a:moveTo>
                    <a:pt x="0" y="0"/>
                  </a:moveTo>
                  <a:lnTo>
                    <a:pt x="154775" y="0"/>
                  </a:lnTo>
                  <a:lnTo>
                    <a:pt x="154775" y="8442960"/>
                  </a:lnTo>
                  <a:lnTo>
                    <a:pt x="0" y="8442960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875520" y="2446025"/>
            <a:ext cx="7315200" cy="822960"/>
            <a:chOff x="0" y="0"/>
            <a:chExt cx="975360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975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A371F7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Matrix Multiplication  A × 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875520" y="3309366"/>
            <a:ext cx="7315200" cy="640080"/>
            <a:chOff x="0" y="0"/>
            <a:chExt cx="975360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753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D9D9D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Columns of A must equal Rows of B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69167" y="4053583"/>
            <a:ext cx="7327897" cy="835657"/>
            <a:chOff x="0" y="0"/>
            <a:chExt cx="9770529" cy="111420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8509" y="8509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A371F7">
                <a:alpha val="5882"/>
              </a:srgbClr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70618" cy="1114298"/>
            </a:xfrm>
            <a:custGeom>
              <a:avLst/>
              <a:gdLst/>
              <a:ahLst/>
              <a:cxnLst/>
              <a:rect r="r" b="b" t="t" l="l"/>
              <a:pathLst>
                <a:path h="1114298" w="9770618">
                  <a:moveTo>
                    <a:pt x="8509" y="0"/>
                  </a:moveTo>
                  <a:lnTo>
                    <a:pt x="9762109" y="0"/>
                  </a:lnTo>
                  <a:cubicBezTo>
                    <a:pt x="9766808" y="0"/>
                    <a:pt x="9770618" y="3810"/>
                    <a:pt x="9770618" y="8509"/>
                  </a:cubicBezTo>
                  <a:lnTo>
                    <a:pt x="9770618" y="1105789"/>
                  </a:lnTo>
                  <a:cubicBezTo>
                    <a:pt x="9770618" y="1110488"/>
                    <a:pt x="9766808" y="1114298"/>
                    <a:pt x="9762109" y="1114298"/>
                  </a:cubicBezTo>
                  <a:lnTo>
                    <a:pt x="8509" y="1114298"/>
                  </a:lnTo>
                  <a:cubicBezTo>
                    <a:pt x="3810" y="1114298"/>
                    <a:pt x="0" y="1110488"/>
                    <a:pt x="0" y="11057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105789"/>
                  </a:lnTo>
                  <a:lnTo>
                    <a:pt x="8509" y="1105789"/>
                  </a:lnTo>
                  <a:lnTo>
                    <a:pt x="8509" y="1097280"/>
                  </a:lnTo>
                  <a:lnTo>
                    <a:pt x="9762109" y="1097280"/>
                  </a:lnTo>
                  <a:lnTo>
                    <a:pt x="9762109" y="1105789"/>
                  </a:lnTo>
                  <a:lnTo>
                    <a:pt x="9753600" y="1105789"/>
                  </a:lnTo>
                  <a:lnTo>
                    <a:pt x="9753600" y="8509"/>
                  </a:lnTo>
                  <a:lnTo>
                    <a:pt x="9762109" y="8509"/>
                  </a:lnTo>
                  <a:lnTo>
                    <a:pt x="97621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875520" y="4059936"/>
            <a:ext cx="7315200" cy="822960"/>
            <a:chOff x="0" y="0"/>
            <a:chExt cx="975360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7536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C[i][j] += A[i][k] * B[k][j]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75520" y="5143500"/>
            <a:ext cx="7315200" cy="3474720"/>
            <a:chOff x="0" y="0"/>
            <a:chExt cx="9753600" cy="4632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4632960"/>
            </a:xfrm>
            <a:custGeom>
              <a:avLst/>
              <a:gdLst/>
              <a:ahLst/>
              <a:cxnLst/>
              <a:rect r="r" b="b" t="t" l="l"/>
              <a:pathLst>
                <a:path h="463296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4632960"/>
                  </a:lnTo>
                  <a:lnTo>
                    <a:pt x="0" y="463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44" t="0" r="-1094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19075"/>
              <a:ext cx="9753600" cy="485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19"/>
                </a:lnSpc>
              </a:pP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Triple nested loop (classical algorithm)</a:t>
              </a:r>
            </a:p>
            <a:p>
              <a:pPr algn="l">
                <a:lnSpc>
                  <a:spcPts val="5219"/>
                </a:lnSpc>
              </a:pP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Innermost accumulates dot product per element</a:t>
              </a:r>
            </a:p>
            <a:p>
              <a:pPr algn="l">
                <a:lnSpc>
                  <a:spcPts val="5219"/>
                </a:lnSpc>
              </a:pPr>
              <a:r>
                <a:rPr lang="en-US" sz="2999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Result C is m×n matrix</a:t>
              </a:r>
            </a:p>
            <a:p>
              <a:pPr algn="l">
                <a:lnSpc>
                  <a:spcPts val="521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538345" y="8856151"/>
            <a:ext cx="3995670" cy="1048134"/>
            <a:chOff x="0" y="0"/>
            <a:chExt cx="5327561" cy="13975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2802" y="26063"/>
              <a:ext cx="5321936" cy="1345190"/>
            </a:xfrm>
            <a:custGeom>
              <a:avLst/>
              <a:gdLst/>
              <a:ahLst/>
              <a:cxnLst/>
              <a:rect r="r" b="b" t="t" l="l"/>
              <a:pathLst>
                <a:path h="1345190" w="5321936">
                  <a:moveTo>
                    <a:pt x="0" y="0"/>
                  </a:moveTo>
                  <a:lnTo>
                    <a:pt x="5321936" y="0"/>
                  </a:lnTo>
                  <a:lnTo>
                    <a:pt x="5321936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27540" cy="1397316"/>
            </a:xfrm>
            <a:custGeom>
              <a:avLst/>
              <a:gdLst/>
              <a:ahLst/>
              <a:cxnLst/>
              <a:rect r="r" b="b" t="t" l="l"/>
              <a:pathLst>
                <a:path h="1397316" w="5327540">
                  <a:moveTo>
                    <a:pt x="2802" y="0"/>
                  </a:moveTo>
                  <a:lnTo>
                    <a:pt x="5324738" y="0"/>
                  </a:lnTo>
                  <a:cubicBezTo>
                    <a:pt x="5326304" y="0"/>
                    <a:pt x="5327540" y="11770"/>
                    <a:pt x="5327540" y="26063"/>
                  </a:cubicBezTo>
                  <a:lnTo>
                    <a:pt x="5327540" y="1371253"/>
                  </a:lnTo>
                  <a:cubicBezTo>
                    <a:pt x="5327540" y="1385826"/>
                    <a:pt x="5326275" y="1397316"/>
                    <a:pt x="5324738" y="1397316"/>
                  </a:cubicBezTo>
                  <a:lnTo>
                    <a:pt x="2802" y="1397316"/>
                  </a:lnTo>
                  <a:cubicBezTo>
                    <a:pt x="1235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265" y="0"/>
                    <a:pt x="2802" y="0"/>
                  </a:cubicBezTo>
                  <a:moveTo>
                    <a:pt x="2802" y="52406"/>
                  </a:moveTo>
                  <a:lnTo>
                    <a:pt x="2802" y="26063"/>
                  </a:lnTo>
                  <a:lnTo>
                    <a:pt x="5604" y="26063"/>
                  </a:lnTo>
                  <a:lnTo>
                    <a:pt x="5604" y="1371253"/>
                  </a:lnTo>
                  <a:lnTo>
                    <a:pt x="2802" y="1371253"/>
                  </a:lnTo>
                  <a:lnTo>
                    <a:pt x="2802" y="1345190"/>
                  </a:lnTo>
                  <a:lnTo>
                    <a:pt x="5324738" y="1345190"/>
                  </a:lnTo>
                  <a:lnTo>
                    <a:pt x="5324738" y="1371253"/>
                  </a:lnTo>
                  <a:lnTo>
                    <a:pt x="5321936" y="1371253"/>
                  </a:lnTo>
                  <a:lnTo>
                    <a:pt x="5321936" y="26063"/>
                  </a:lnTo>
                  <a:lnTo>
                    <a:pt x="5324738" y="26063"/>
                  </a:lnTo>
                  <a:lnTo>
                    <a:pt x="5324738" y="52126"/>
                  </a:lnTo>
                  <a:lnTo>
                    <a:pt x="2802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02651" y="8492487"/>
            <a:ext cx="2104730" cy="1775463"/>
            <a:chOff x="0" y="0"/>
            <a:chExt cx="2837873" cy="239391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37873" cy="2393913"/>
            </a:xfrm>
            <a:custGeom>
              <a:avLst/>
              <a:gdLst/>
              <a:ahLst/>
              <a:cxnLst/>
              <a:rect r="r" b="b" t="t" l="l"/>
              <a:pathLst>
                <a:path h="2393913" w="2837873">
                  <a:moveTo>
                    <a:pt x="0" y="0"/>
                  </a:moveTo>
                  <a:lnTo>
                    <a:pt x="2837873" y="0"/>
                  </a:lnTo>
                  <a:lnTo>
                    <a:pt x="2837873" y="2393913"/>
                  </a:lnTo>
                  <a:lnTo>
                    <a:pt x="0" y="23939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891" r="-673311" b="-9135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2837873" cy="246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32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⚠  Errors: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662170" y="8952177"/>
            <a:ext cx="4010786" cy="856082"/>
            <a:chOff x="0" y="0"/>
            <a:chExt cx="5407869" cy="11542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07868" cy="1154282"/>
            </a:xfrm>
            <a:custGeom>
              <a:avLst/>
              <a:gdLst/>
              <a:ahLst/>
              <a:cxnLst/>
              <a:rect r="r" b="b" t="t" l="l"/>
              <a:pathLst>
                <a:path h="1154282" w="5407868">
                  <a:moveTo>
                    <a:pt x="0" y="0"/>
                  </a:moveTo>
                  <a:lnTo>
                    <a:pt x="5407868" y="0"/>
                  </a:lnTo>
                  <a:lnTo>
                    <a:pt x="5407868" y="1154282"/>
                  </a:lnTo>
                  <a:lnTo>
                    <a:pt x="0" y="1154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049" r="-305808" b="-29686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5407869" cy="1211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</a:t>
              </a:r>
              <a:r>
                <a:rPr lang="en-US" sz="25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alidDim checks 1–10 range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1078" y="8856151"/>
            <a:ext cx="5036122" cy="1048134"/>
            <a:chOff x="0" y="0"/>
            <a:chExt cx="6714830" cy="13975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3532" y="26063"/>
              <a:ext cx="6707740" cy="1345190"/>
            </a:xfrm>
            <a:custGeom>
              <a:avLst/>
              <a:gdLst/>
              <a:ahLst/>
              <a:cxnLst/>
              <a:rect r="r" b="b" t="t" l="l"/>
              <a:pathLst>
                <a:path h="1345190" w="6707740">
                  <a:moveTo>
                    <a:pt x="0" y="0"/>
                  </a:moveTo>
                  <a:lnTo>
                    <a:pt x="6707740" y="0"/>
                  </a:lnTo>
                  <a:lnTo>
                    <a:pt x="6707740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714803" cy="1397316"/>
            </a:xfrm>
            <a:custGeom>
              <a:avLst/>
              <a:gdLst/>
              <a:ahLst/>
              <a:cxnLst/>
              <a:rect r="r" b="b" t="t" l="l"/>
              <a:pathLst>
                <a:path h="1397316" w="6714803">
                  <a:moveTo>
                    <a:pt x="3532" y="0"/>
                  </a:moveTo>
                  <a:lnTo>
                    <a:pt x="6711272" y="0"/>
                  </a:lnTo>
                  <a:cubicBezTo>
                    <a:pt x="6713246" y="0"/>
                    <a:pt x="6714803" y="11770"/>
                    <a:pt x="6714803" y="26063"/>
                  </a:cubicBezTo>
                  <a:lnTo>
                    <a:pt x="6714803" y="1371253"/>
                  </a:lnTo>
                  <a:cubicBezTo>
                    <a:pt x="6714803" y="1385826"/>
                    <a:pt x="6713209" y="1397316"/>
                    <a:pt x="6711272" y="1397316"/>
                  </a:cubicBezTo>
                  <a:lnTo>
                    <a:pt x="3532" y="1397316"/>
                  </a:lnTo>
                  <a:cubicBezTo>
                    <a:pt x="1557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595" y="0"/>
                    <a:pt x="3532" y="0"/>
                  </a:cubicBezTo>
                  <a:moveTo>
                    <a:pt x="3532" y="52406"/>
                  </a:moveTo>
                  <a:lnTo>
                    <a:pt x="3532" y="26063"/>
                  </a:lnTo>
                  <a:lnTo>
                    <a:pt x="7063" y="26063"/>
                  </a:lnTo>
                  <a:lnTo>
                    <a:pt x="7063" y="1371253"/>
                  </a:lnTo>
                  <a:lnTo>
                    <a:pt x="3532" y="1371253"/>
                  </a:lnTo>
                  <a:lnTo>
                    <a:pt x="3532" y="1345190"/>
                  </a:lnTo>
                  <a:lnTo>
                    <a:pt x="6711272" y="1345190"/>
                  </a:lnTo>
                  <a:lnTo>
                    <a:pt x="6711272" y="1371253"/>
                  </a:lnTo>
                  <a:lnTo>
                    <a:pt x="6707740" y="1371253"/>
                  </a:lnTo>
                  <a:lnTo>
                    <a:pt x="6707740" y="26063"/>
                  </a:lnTo>
                  <a:lnTo>
                    <a:pt x="6711272" y="26063"/>
                  </a:lnTo>
                  <a:lnTo>
                    <a:pt x="6711272" y="52126"/>
                  </a:lnTo>
                  <a:lnTo>
                    <a:pt x="3532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083139" y="8856151"/>
            <a:ext cx="4572000" cy="1048134"/>
            <a:chOff x="0" y="0"/>
            <a:chExt cx="6164571" cy="141323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164571" cy="1413233"/>
            </a:xfrm>
            <a:custGeom>
              <a:avLst/>
              <a:gdLst/>
              <a:ahLst/>
              <a:cxnLst/>
              <a:rect r="r" b="b" t="t" l="l"/>
              <a:pathLst>
                <a:path h="1413233" w="6164571">
                  <a:moveTo>
                    <a:pt x="0" y="0"/>
                  </a:moveTo>
                  <a:lnTo>
                    <a:pt x="6164571" y="0"/>
                  </a:lnTo>
                  <a:lnTo>
                    <a:pt x="6164571" y="1413233"/>
                  </a:lnTo>
                  <a:lnTo>
                    <a:pt x="0" y="141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08" r="-255995" b="-22414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164571" cy="146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</a:t>
              </a:r>
              <a:r>
                <a:rPr lang="en-US" sz="24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tion: rA ≠ rB or cA ≠ cB shown 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23178" y="8856151"/>
            <a:ext cx="5036122" cy="1048134"/>
            <a:chOff x="0" y="0"/>
            <a:chExt cx="6714830" cy="13975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532" y="26063"/>
              <a:ext cx="6707740" cy="1345190"/>
            </a:xfrm>
            <a:custGeom>
              <a:avLst/>
              <a:gdLst/>
              <a:ahLst/>
              <a:cxnLst/>
              <a:rect r="r" b="b" t="t" l="l"/>
              <a:pathLst>
                <a:path h="1345190" w="6707740">
                  <a:moveTo>
                    <a:pt x="0" y="0"/>
                  </a:moveTo>
                  <a:lnTo>
                    <a:pt x="6707740" y="0"/>
                  </a:lnTo>
                  <a:lnTo>
                    <a:pt x="6707740" y="1345190"/>
                  </a:lnTo>
                  <a:lnTo>
                    <a:pt x="0" y="1345190"/>
                  </a:lnTo>
                  <a:close/>
                </a:path>
              </a:pathLst>
            </a:custGeom>
            <a:solidFill>
              <a:srgbClr val="1C2333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714803" cy="1397316"/>
            </a:xfrm>
            <a:custGeom>
              <a:avLst/>
              <a:gdLst/>
              <a:ahLst/>
              <a:cxnLst/>
              <a:rect r="r" b="b" t="t" l="l"/>
              <a:pathLst>
                <a:path h="1397316" w="6714803">
                  <a:moveTo>
                    <a:pt x="3532" y="0"/>
                  </a:moveTo>
                  <a:lnTo>
                    <a:pt x="6711272" y="0"/>
                  </a:lnTo>
                  <a:cubicBezTo>
                    <a:pt x="6713246" y="0"/>
                    <a:pt x="6714803" y="11770"/>
                    <a:pt x="6714803" y="26063"/>
                  </a:cubicBezTo>
                  <a:lnTo>
                    <a:pt x="6714803" y="1371253"/>
                  </a:lnTo>
                  <a:cubicBezTo>
                    <a:pt x="6714803" y="1385826"/>
                    <a:pt x="6713209" y="1397316"/>
                    <a:pt x="6711272" y="1397316"/>
                  </a:cubicBezTo>
                  <a:lnTo>
                    <a:pt x="3532" y="1397316"/>
                  </a:lnTo>
                  <a:cubicBezTo>
                    <a:pt x="1557" y="1397316"/>
                    <a:pt x="0" y="1385546"/>
                    <a:pt x="0" y="1371253"/>
                  </a:cubicBezTo>
                  <a:lnTo>
                    <a:pt x="0" y="26063"/>
                  </a:lnTo>
                  <a:cubicBezTo>
                    <a:pt x="0" y="11770"/>
                    <a:pt x="1595" y="0"/>
                    <a:pt x="3532" y="0"/>
                  </a:cubicBezTo>
                  <a:moveTo>
                    <a:pt x="3532" y="52406"/>
                  </a:moveTo>
                  <a:lnTo>
                    <a:pt x="3532" y="26063"/>
                  </a:lnTo>
                  <a:lnTo>
                    <a:pt x="7063" y="26063"/>
                  </a:lnTo>
                  <a:lnTo>
                    <a:pt x="7063" y="1371253"/>
                  </a:lnTo>
                  <a:lnTo>
                    <a:pt x="3532" y="1371253"/>
                  </a:lnTo>
                  <a:lnTo>
                    <a:pt x="3532" y="1345190"/>
                  </a:lnTo>
                  <a:lnTo>
                    <a:pt x="6711272" y="1345190"/>
                  </a:lnTo>
                  <a:lnTo>
                    <a:pt x="6711272" y="1371253"/>
                  </a:lnTo>
                  <a:lnTo>
                    <a:pt x="6707740" y="1371253"/>
                  </a:lnTo>
                  <a:lnTo>
                    <a:pt x="6707740" y="26063"/>
                  </a:lnTo>
                  <a:lnTo>
                    <a:pt x="6711272" y="26063"/>
                  </a:lnTo>
                  <a:lnTo>
                    <a:pt x="6711272" y="52126"/>
                  </a:lnTo>
                  <a:lnTo>
                    <a:pt x="3532" y="52126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55239" y="8856151"/>
            <a:ext cx="4572000" cy="1048134"/>
            <a:chOff x="0" y="0"/>
            <a:chExt cx="6164571" cy="141323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64571" cy="1413233"/>
            </a:xfrm>
            <a:custGeom>
              <a:avLst/>
              <a:gdLst/>
              <a:ahLst/>
              <a:cxnLst/>
              <a:rect r="r" b="b" t="t" l="l"/>
              <a:pathLst>
                <a:path h="1413233" w="6164571">
                  <a:moveTo>
                    <a:pt x="0" y="0"/>
                  </a:moveTo>
                  <a:lnTo>
                    <a:pt x="6164571" y="0"/>
                  </a:lnTo>
                  <a:lnTo>
                    <a:pt x="6164571" y="1413233"/>
                  </a:lnTo>
                  <a:lnTo>
                    <a:pt x="0" y="141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008" r="-255995" b="-22414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164571" cy="146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</a:t>
              </a:r>
              <a:r>
                <a:rPr lang="en-US" sz="2499">
                  <a:solidFill>
                    <a:srgbClr val="F781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ultiplication: cA ≠ rB → operation blocked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10" y="-3810"/>
            <a:ext cx="18295620" cy="7620"/>
            <a:chOff x="0" y="0"/>
            <a:chExt cx="24394160" cy="10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810" y="1642110"/>
            <a:ext cx="18295620" cy="7620"/>
            <a:chOff x="0" y="0"/>
            <a:chExt cx="24394160" cy="10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810" y="3288030"/>
            <a:ext cx="18295620" cy="7620"/>
            <a:chOff x="0" y="0"/>
            <a:chExt cx="24394160" cy="1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3810" y="4933950"/>
            <a:ext cx="18295620" cy="7620"/>
            <a:chOff x="0" y="0"/>
            <a:chExt cx="24394160" cy="1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3810" y="6579870"/>
            <a:ext cx="18295620" cy="7620"/>
            <a:chOff x="0" y="0"/>
            <a:chExt cx="24394160" cy="1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3810" y="8225790"/>
            <a:ext cx="18295620" cy="7620"/>
            <a:chOff x="0" y="0"/>
            <a:chExt cx="24394160" cy="1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3810" y="9871710"/>
            <a:ext cx="18295620" cy="7620"/>
            <a:chOff x="0" y="0"/>
            <a:chExt cx="24394160" cy="1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080" y="0"/>
              <a:ext cx="24384000" cy="10160"/>
            </a:xfrm>
            <a:custGeom>
              <a:avLst/>
              <a:gdLst/>
              <a:ahLst/>
              <a:cxnLst/>
              <a:rect r="r" b="b" t="t" l="l"/>
              <a:pathLst>
                <a:path h="101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60"/>
                  </a:lnTo>
                  <a:lnTo>
                    <a:pt x="0" y="1016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810" y="-3810"/>
            <a:ext cx="7620" cy="10294620"/>
            <a:chOff x="0" y="0"/>
            <a:chExt cx="10160" cy="13726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24990" y="-3810"/>
            <a:ext cx="7620" cy="10294620"/>
            <a:chOff x="0" y="0"/>
            <a:chExt cx="10160" cy="13726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53790" y="-3810"/>
            <a:ext cx="7620" cy="10294620"/>
            <a:chOff x="0" y="0"/>
            <a:chExt cx="10160" cy="13726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82590" y="-3810"/>
            <a:ext cx="7620" cy="10294620"/>
            <a:chOff x="0" y="0"/>
            <a:chExt cx="10160" cy="13726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311390" y="-3810"/>
            <a:ext cx="7620" cy="10294620"/>
            <a:chOff x="0" y="0"/>
            <a:chExt cx="10160" cy="13726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0190" y="-3810"/>
            <a:ext cx="7620" cy="10294620"/>
            <a:chOff x="0" y="0"/>
            <a:chExt cx="10160" cy="13726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68990" y="-3810"/>
            <a:ext cx="7620" cy="10294620"/>
            <a:chOff x="0" y="0"/>
            <a:chExt cx="10160" cy="13726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797790" y="-3810"/>
            <a:ext cx="7620" cy="10294620"/>
            <a:chOff x="0" y="0"/>
            <a:chExt cx="10160" cy="13726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26590" y="-3810"/>
            <a:ext cx="7620" cy="10294620"/>
            <a:chOff x="0" y="0"/>
            <a:chExt cx="10160" cy="13726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5390" y="-3810"/>
            <a:ext cx="7620" cy="10294620"/>
            <a:chOff x="0" y="0"/>
            <a:chExt cx="10160" cy="13726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8284190" y="-3810"/>
            <a:ext cx="7620" cy="10294620"/>
            <a:chOff x="0" y="0"/>
            <a:chExt cx="10160" cy="13726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5080"/>
              <a:ext cx="1016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">
                  <a:moveTo>
                    <a:pt x="10160" y="0"/>
                  </a:moveTo>
                  <a:lnTo>
                    <a:pt x="1016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Conclusion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" y="1609344"/>
            <a:ext cx="4572000" cy="73152"/>
            <a:chOff x="0" y="0"/>
            <a:chExt cx="6096000" cy="975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96000" cy="97536"/>
            </a:xfrm>
            <a:custGeom>
              <a:avLst/>
              <a:gdLst/>
              <a:ahLst/>
              <a:cxnLst/>
              <a:rect r="r" b="b" t="t" l="l"/>
              <a:pathLst>
                <a:path h="97536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357" y="2001517"/>
            <a:ext cx="8249917" cy="2178301"/>
            <a:chOff x="0" y="0"/>
            <a:chExt cx="10999889" cy="290440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8279" y="2547623"/>
            <a:ext cx="939803" cy="939803"/>
            <a:chOff x="0" y="0"/>
            <a:chExt cx="1253071" cy="12530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D4AA">
                <a:alpha val="48627"/>
              </a:srgbClr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50976" y="2560320"/>
            <a:ext cx="914400" cy="914400"/>
            <a:chOff x="0" y="0"/>
            <a:chExt cx="121920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103120" y="2231136"/>
            <a:ext cx="6583680" cy="1645920"/>
            <a:chOff x="0" y="0"/>
            <a:chExt cx="8778240" cy="21945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 console-based scientific calculator in C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91037" y="2001517"/>
            <a:ext cx="8249917" cy="2178301"/>
            <a:chOff x="0" y="0"/>
            <a:chExt cx="10999889" cy="29044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807959" y="2547623"/>
            <a:ext cx="939803" cy="939803"/>
            <a:chOff x="0" y="0"/>
            <a:chExt cx="1253071" cy="125307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4F9CF9">
                <a:alpha val="48627"/>
              </a:srgbClr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820656" y="2560320"/>
            <a:ext cx="914400" cy="914400"/>
            <a:chOff x="0" y="0"/>
            <a:chExt cx="1219200" cy="1219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972800" y="2231136"/>
            <a:ext cx="6583680" cy="1645920"/>
            <a:chOff x="0" y="0"/>
            <a:chExt cx="877824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segments covering arithmetic to matrix algebra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21357" y="4470397"/>
            <a:ext cx="8249917" cy="2178301"/>
            <a:chOff x="0" y="0"/>
            <a:chExt cx="10999889" cy="29044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38279" y="5016503"/>
            <a:ext cx="939803" cy="939803"/>
            <a:chOff x="0" y="0"/>
            <a:chExt cx="1253071" cy="125307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78166">
                <a:alpha val="48627"/>
              </a:srgbClr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F7816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50976" y="5029200"/>
            <a:ext cx="914400" cy="914400"/>
            <a:chOff x="0" y="0"/>
            <a:chExt cx="121920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2103120" y="4700016"/>
            <a:ext cx="6583680" cy="1645920"/>
            <a:chOff x="0" y="0"/>
            <a:chExt cx="8778240" cy="21945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Modular architecture using switch-case function control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91037" y="4470397"/>
            <a:ext cx="8249917" cy="2178301"/>
            <a:chOff x="0" y="0"/>
            <a:chExt cx="10999889" cy="290440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807959" y="5016503"/>
            <a:ext cx="939803" cy="939803"/>
            <a:chOff x="0" y="0"/>
            <a:chExt cx="1253071" cy="12530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A371F7">
                <a:alpha val="48627"/>
              </a:srgbClr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A371F7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820656" y="5029200"/>
            <a:ext cx="914400" cy="914400"/>
            <a:chOff x="0" y="0"/>
            <a:chExt cx="1219200" cy="12192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972800" y="4700016"/>
            <a:ext cx="6583680" cy="1645920"/>
            <a:chOff x="0" y="0"/>
            <a:chExt cx="8778240" cy="219456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Systematic error-handling across all operations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21357" y="6939277"/>
            <a:ext cx="8249917" cy="2178301"/>
            <a:chOff x="0" y="0"/>
            <a:chExt cx="10999889" cy="290440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38279" y="7485383"/>
            <a:ext cx="939803" cy="939803"/>
            <a:chOff x="0" y="0"/>
            <a:chExt cx="1253071" cy="125307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0D4AA">
                <a:alpha val="48627"/>
              </a:srgbClr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50976" y="7498080"/>
            <a:ext cx="914400" cy="914400"/>
            <a:chOff x="0" y="0"/>
            <a:chExt cx="1219200" cy="12192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103120" y="7168896"/>
            <a:ext cx="6583680" cy="1645920"/>
            <a:chOff x="0" y="0"/>
            <a:chExt cx="8778240" cy="21945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Double-precision results with appropriate format specifiers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591037" y="6939277"/>
            <a:ext cx="8249917" cy="2178301"/>
            <a:chOff x="0" y="0"/>
            <a:chExt cx="10999889" cy="290440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3589" y="13589"/>
              <a:ext cx="10972800" cy="2877312"/>
            </a:xfrm>
            <a:custGeom>
              <a:avLst/>
              <a:gdLst/>
              <a:ahLst/>
              <a:cxnLst/>
              <a:rect r="r" b="b" t="t" l="l"/>
              <a:pathLst>
                <a:path h="2877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77312"/>
                  </a:lnTo>
                  <a:lnTo>
                    <a:pt x="0" y="2877312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0999978" cy="2904490"/>
            </a:xfrm>
            <a:custGeom>
              <a:avLst/>
              <a:gdLst/>
              <a:ahLst/>
              <a:cxnLst/>
              <a:rect r="r" b="b" t="t" l="l"/>
              <a:pathLst>
                <a:path h="2904490" w="10999978">
                  <a:moveTo>
                    <a:pt x="13589" y="0"/>
                  </a:moveTo>
                  <a:lnTo>
                    <a:pt x="10986389" y="0"/>
                  </a:lnTo>
                  <a:cubicBezTo>
                    <a:pt x="10993882" y="0"/>
                    <a:pt x="10999978" y="6096"/>
                    <a:pt x="10999978" y="13589"/>
                  </a:cubicBezTo>
                  <a:lnTo>
                    <a:pt x="10999978" y="2890901"/>
                  </a:lnTo>
                  <a:cubicBezTo>
                    <a:pt x="10999978" y="2898394"/>
                    <a:pt x="10993882" y="2904490"/>
                    <a:pt x="10986389" y="2904490"/>
                  </a:cubicBezTo>
                  <a:lnTo>
                    <a:pt x="13589" y="2904490"/>
                  </a:lnTo>
                  <a:cubicBezTo>
                    <a:pt x="6096" y="2904490"/>
                    <a:pt x="0" y="2898394"/>
                    <a:pt x="0" y="2890901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2890901"/>
                  </a:lnTo>
                  <a:lnTo>
                    <a:pt x="13589" y="2890901"/>
                  </a:lnTo>
                  <a:lnTo>
                    <a:pt x="13589" y="2877312"/>
                  </a:lnTo>
                  <a:lnTo>
                    <a:pt x="10986389" y="2877312"/>
                  </a:lnTo>
                  <a:lnTo>
                    <a:pt x="10986389" y="2890901"/>
                  </a:lnTo>
                  <a:lnTo>
                    <a:pt x="10972800" y="2890901"/>
                  </a:lnTo>
                  <a:lnTo>
                    <a:pt x="10972800" y="13589"/>
                  </a:lnTo>
                  <a:lnTo>
                    <a:pt x="10986389" y="13589"/>
                  </a:lnTo>
                  <a:lnTo>
                    <a:pt x="1098638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807959" y="7485383"/>
            <a:ext cx="939803" cy="939803"/>
            <a:chOff x="0" y="0"/>
            <a:chExt cx="1253071" cy="1253071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4F9CF9">
                <a:alpha val="48627"/>
              </a:srgbClr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53109" cy="1252982"/>
            </a:xfrm>
            <a:custGeom>
              <a:avLst/>
              <a:gdLst/>
              <a:ahLst/>
              <a:cxnLst/>
              <a:rect r="r" b="b" t="t" l="l"/>
              <a:pathLst>
                <a:path h="1252982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lnTo>
                    <a:pt x="626491" y="16891"/>
                  </a:lnTo>
                  <a:lnTo>
                    <a:pt x="626491" y="0"/>
                  </a:lnTo>
                  <a:cubicBezTo>
                    <a:pt x="972566" y="0"/>
                    <a:pt x="1253109" y="280543"/>
                    <a:pt x="1253109" y="626491"/>
                  </a:cubicBezTo>
                  <a:lnTo>
                    <a:pt x="1236091" y="626491"/>
                  </a:lnTo>
                  <a:lnTo>
                    <a:pt x="1252982" y="626491"/>
                  </a:lnTo>
                  <a:cubicBezTo>
                    <a:pt x="1252982" y="972566"/>
                    <a:pt x="972439" y="1252982"/>
                    <a:pt x="626491" y="1252982"/>
                  </a:cubicBezTo>
                  <a:lnTo>
                    <a:pt x="626491" y="1236091"/>
                  </a:lnTo>
                  <a:lnTo>
                    <a:pt x="626491" y="1252982"/>
                  </a:lnTo>
                  <a:cubicBezTo>
                    <a:pt x="280543" y="1253109"/>
                    <a:pt x="0" y="972566"/>
                    <a:pt x="0" y="626491"/>
                  </a:cubicBezTo>
                  <a:lnTo>
                    <a:pt x="16891" y="626491"/>
                  </a:lnTo>
                  <a:lnTo>
                    <a:pt x="33909" y="626491"/>
                  </a:lnTo>
                  <a:lnTo>
                    <a:pt x="16891" y="626491"/>
                  </a:lnTo>
                  <a:lnTo>
                    <a:pt x="0" y="626491"/>
                  </a:lnTo>
                  <a:moveTo>
                    <a:pt x="33909" y="626491"/>
                  </a:moveTo>
                  <a:cubicBezTo>
                    <a:pt x="33909" y="635889"/>
                    <a:pt x="26289" y="643382"/>
                    <a:pt x="17018" y="643382"/>
                  </a:cubicBezTo>
                  <a:cubicBezTo>
                    <a:pt x="7747" y="643382"/>
                    <a:pt x="0" y="635889"/>
                    <a:pt x="0" y="626491"/>
                  </a:cubicBezTo>
                  <a:cubicBezTo>
                    <a:pt x="0" y="617093"/>
                    <a:pt x="7620" y="609600"/>
                    <a:pt x="16891" y="609600"/>
                  </a:cubicBezTo>
                  <a:cubicBezTo>
                    <a:pt x="26162" y="609600"/>
                    <a:pt x="33782" y="617220"/>
                    <a:pt x="33782" y="626491"/>
                  </a:cubicBezTo>
                  <a:cubicBezTo>
                    <a:pt x="33909" y="953897"/>
                    <a:pt x="299212" y="1219200"/>
                    <a:pt x="626491" y="1219200"/>
                  </a:cubicBezTo>
                  <a:cubicBezTo>
                    <a:pt x="953897" y="1219200"/>
                    <a:pt x="1219200" y="953897"/>
                    <a:pt x="1219200" y="626491"/>
                  </a:cubicBezTo>
                  <a:cubicBezTo>
                    <a:pt x="1219200" y="299212"/>
                    <a:pt x="953897" y="33909"/>
                    <a:pt x="626491" y="33909"/>
                  </a:cubicBezTo>
                  <a:lnTo>
                    <a:pt x="626491" y="16891"/>
                  </a:lnTo>
                  <a:lnTo>
                    <a:pt x="626491" y="33909"/>
                  </a:lnTo>
                  <a:cubicBezTo>
                    <a:pt x="299212" y="33909"/>
                    <a:pt x="33909" y="299212"/>
                    <a:pt x="33909" y="626491"/>
                  </a:cubicBezTo>
                  <a:close/>
                </a:path>
              </a:pathLst>
            </a:custGeom>
            <a:solidFill>
              <a:srgbClr val="4F9CF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820656" y="7498080"/>
            <a:ext cx="914400" cy="914400"/>
            <a:chOff x="0" y="0"/>
            <a:chExt cx="1219200" cy="1219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12192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972800" y="7168896"/>
            <a:ext cx="6583680" cy="1645920"/>
            <a:chOff x="0" y="0"/>
            <a:chExt cx="8778240" cy="219456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7782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123825"/>
              <a:ext cx="8778240" cy="2318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E6ED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Collaborative development with clear individual ownership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-12697" y="9497063"/>
            <a:ext cx="18313403" cy="756923"/>
            <a:chOff x="0" y="0"/>
            <a:chExt cx="24417871" cy="1009231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16891" y="16891"/>
              <a:ext cx="24383999" cy="975360"/>
            </a:xfrm>
            <a:custGeom>
              <a:avLst/>
              <a:gdLst/>
              <a:ahLst/>
              <a:cxnLst/>
              <a:rect r="r" b="b" t="t" l="l"/>
              <a:pathLst>
                <a:path h="97536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61B22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4177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992251"/>
                  </a:lnTo>
                  <a:cubicBezTo>
                    <a:pt x="24417782" y="1001649"/>
                    <a:pt x="24410163" y="1009142"/>
                    <a:pt x="24400890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4400890" y="975360"/>
                  </a:lnTo>
                  <a:lnTo>
                    <a:pt x="24400890" y="992251"/>
                  </a:lnTo>
                  <a:lnTo>
                    <a:pt x="24384000" y="99225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0363D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0" y="10204704"/>
            <a:ext cx="18288000" cy="91440"/>
            <a:chOff x="0" y="0"/>
            <a:chExt cx="24384000" cy="12192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00" cy="121920"/>
            </a:xfrm>
            <a:custGeom>
              <a:avLst/>
              <a:gdLst/>
              <a:ahLst/>
              <a:cxnLst/>
              <a:rect r="r" b="b" t="t" l="l"/>
              <a:pathLst>
                <a:path h="1219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00D4AA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14400" y="9509760"/>
            <a:ext cx="16459200" cy="694944"/>
            <a:chOff x="0" y="0"/>
            <a:chExt cx="21945600" cy="92659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19456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9D9D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115  |  Section 05  |  Scientific Calculator  |  Group 13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DAHIRpLP5Cg</dc:identifier>
  <dcterms:modified xsi:type="dcterms:W3CDTF">2011-08-01T06:04:30Z</dcterms:modified>
  <cp:revision>1</cp:revision>
  <dc:title>CSE115_Scientific_Calculator.pptx</dc:title>
</cp:coreProperties>
</file>